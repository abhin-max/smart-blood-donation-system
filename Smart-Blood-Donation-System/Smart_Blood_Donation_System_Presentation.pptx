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301"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 S" userId="00eec1ece2c519b4" providerId="LiveId" clId="{762DC4BF-6155-475D-B268-BFBBB45B8833}"/>
    <pc:docChg chg="custSel addSld modSld">
      <pc:chgData name="Abhin S" userId="00eec1ece2c519b4" providerId="LiveId" clId="{762DC4BF-6155-475D-B268-BFBBB45B8833}" dt="2026-09-11T20:48:04.425" v="10" actId="1076"/>
      <pc:docMkLst>
        <pc:docMk/>
      </pc:docMkLst>
      <pc:sldChg chg="addSp delSp modSp mod">
        <pc:chgData name="Abhin S" userId="00eec1ece2c519b4" providerId="LiveId" clId="{762DC4BF-6155-475D-B268-BFBBB45B8833}" dt="2026-09-11T20:47:47.359" v="6" actId="21"/>
        <pc:sldMkLst>
          <pc:docMk/>
          <pc:sldMk cId="0" sldId="257"/>
        </pc:sldMkLst>
        <pc:picChg chg="add del mod">
          <ac:chgData name="Abhin S" userId="00eec1ece2c519b4" providerId="LiveId" clId="{762DC4BF-6155-475D-B268-BFBBB45B8833}" dt="2026-09-11T20:47:47.359" v="6" actId="21"/>
          <ac:picMkLst>
            <pc:docMk/>
            <pc:sldMk cId="0" sldId="257"/>
            <ac:picMk id="21" creationId="{402121D7-BF90-D10A-D1BF-5C1493E710D7}"/>
          </ac:picMkLst>
        </pc:picChg>
      </pc:sldChg>
      <pc:sldChg chg="addSp modSp new mod">
        <pc:chgData name="Abhin S" userId="00eec1ece2c519b4" providerId="LiveId" clId="{762DC4BF-6155-475D-B268-BFBBB45B8833}" dt="2026-09-11T20:48:04.425" v="10" actId="1076"/>
        <pc:sldMkLst>
          <pc:docMk/>
          <pc:sldMk cId="2044500949" sldId="269"/>
        </pc:sldMkLst>
        <pc:picChg chg="add mod">
          <ac:chgData name="Abhin S" userId="00eec1ece2c519b4" providerId="LiveId" clId="{762DC4BF-6155-475D-B268-BFBBB45B8833}" dt="2026-09-11T20:48:04.425" v="10" actId="1076"/>
          <ac:picMkLst>
            <pc:docMk/>
            <pc:sldMk cId="2044500949" sldId="269"/>
            <ac:picMk id="3" creationId="{FB4BCB6B-868B-3E00-0D62-7AE65F7477B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9556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000A"/>
        </a:solidFill>
        <a:effectLst/>
      </p:bgPr>
    </p:bg>
    <p:spTree>
      <p:nvGrpSpPr>
        <p:cNvPr id="1" name=""/>
        <p:cNvGrpSpPr/>
        <p:nvPr/>
      </p:nvGrpSpPr>
      <p:grpSpPr>
        <a:xfrm>
          <a:off x="0" y="0"/>
          <a:ext cx="0" cy="0"/>
          <a:chOff x="0" y="0"/>
          <a:chExt cx="0" cy="0"/>
        </a:xfrm>
      </p:grpSpPr>
      <p:sp>
        <p:nvSpPr>
          <p:cNvPr id="2" name="Shape 0"/>
          <p:cNvSpPr/>
          <p:nvPr/>
        </p:nvSpPr>
        <p:spPr>
          <a:xfrm rot="960000">
            <a:off x="7955280" y="-1463040"/>
            <a:ext cx="6858000" cy="10058400"/>
          </a:xfrm>
          <a:prstGeom prst="roundRect">
            <a:avLst>
              <a:gd name="adj" fmla="val 6667"/>
            </a:avLst>
          </a:prstGeom>
          <a:solidFill>
            <a:srgbClr val="990011">
              <a:alpha val="55000"/>
            </a:srgbClr>
          </a:solidFill>
          <a:ln/>
        </p:spPr>
      </p:sp>
      <p:pic>
        <p:nvPicPr>
          <p:cNvPr id="3" name="Image 0" descr="/home/claude/ppt/src/word/media/image1.png"/>
          <p:cNvPicPr>
            <a:picLocks noChangeAspect="1"/>
          </p:cNvPicPr>
          <p:nvPr/>
        </p:nvPicPr>
        <p:blipFill>
          <a:blip r:embed="rId3"/>
          <a:stretch>
            <a:fillRect/>
          </a:stretch>
        </p:blipFill>
        <p:spPr>
          <a:xfrm>
            <a:off x="640080" y="502920"/>
            <a:ext cx="2286000" cy="804672"/>
          </a:xfrm>
          <a:prstGeom prst="rect">
            <a:avLst/>
          </a:prstGeom>
        </p:spPr>
      </p:pic>
      <p:sp>
        <p:nvSpPr>
          <p:cNvPr id="4" name="Text 1"/>
          <p:cNvSpPr/>
          <p:nvPr/>
        </p:nvSpPr>
        <p:spPr>
          <a:xfrm>
            <a:off x="640080" y="2286000"/>
            <a:ext cx="8686800" cy="411480"/>
          </a:xfrm>
          <a:prstGeom prst="rect">
            <a:avLst/>
          </a:prstGeom>
          <a:noFill/>
          <a:ln/>
        </p:spPr>
        <p:txBody>
          <a:bodyPr wrap="square" rtlCol="0" anchor="ctr"/>
          <a:lstStyle/>
          <a:p>
            <a:pPr marL="0" indent="0">
              <a:buNone/>
            </a:pPr>
            <a:r>
              <a:rPr lang="en-US" sz="1400" b="1" kern="0" spc="300" dirty="0">
                <a:solidFill>
                  <a:srgbClr val="E9B8BE"/>
                </a:solidFill>
                <a:latin typeface="Calibri" pitchFamily="34" charset="0"/>
                <a:ea typeface="Calibri" pitchFamily="34" charset="-122"/>
                <a:cs typeface="Calibri" pitchFamily="34" charset="-120"/>
              </a:rPr>
              <a:t>SUMMER TRAINING PROJECT REPORT</a:t>
            </a:r>
            <a:endParaRPr lang="en-US" sz="1400" dirty="0"/>
          </a:p>
        </p:txBody>
      </p:sp>
      <p:sp>
        <p:nvSpPr>
          <p:cNvPr id="5" name="Text 2"/>
          <p:cNvSpPr/>
          <p:nvPr/>
        </p:nvSpPr>
        <p:spPr>
          <a:xfrm>
            <a:off x="621792" y="2697480"/>
            <a:ext cx="987552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Smart Blood Donation</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Emergency Matching System</a:t>
            </a:r>
            <a:endParaRPr lang="en-US" sz="4000" dirty="0"/>
          </a:p>
        </p:txBody>
      </p:sp>
      <p:sp>
        <p:nvSpPr>
          <p:cNvPr id="6" name="Text 3"/>
          <p:cNvSpPr/>
          <p:nvPr/>
        </p:nvSpPr>
        <p:spPr>
          <a:xfrm>
            <a:off x="658368" y="4343400"/>
            <a:ext cx="8961120" cy="594360"/>
          </a:xfrm>
          <a:prstGeom prst="rect">
            <a:avLst/>
          </a:prstGeom>
          <a:noFill/>
          <a:ln/>
        </p:spPr>
        <p:txBody>
          <a:bodyPr wrap="square" rtlCol="0" anchor="ctr"/>
          <a:lstStyle/>
          <a:p>
            <a:pPr marL="0" indent="0">
              <a:buNone/>
            </a:pPr>
            <a:r>
              <a:rPr lang="en-US" sz="1500" i="1" dirty="0">
                <a:solidFill>
                  <a:srgbClr val="F1D9DC"/>
                </a:solidFill>
                <a:latin typeface="Calibri" pitchFamily="34" charset="0"/>
                <a:ea typeface="Calibri" pitchFamily="34" charset="-122"/>
                <a:cs typeface="Calibri" pitchFamily="34" charset="-120"/>
              </a:rPr>
              <a:t>A console-based C++ application that applies core Data Structures &amp; OOP to speed up emergency blood-donor matching</a:t>
            </a:r>
            <a:endParaRPr lang="en-US" sz="1500" dirty="0"/>
          </a:p>
        </p:txBody>
      </p:sp>
      <p:sp>
        <p:nvSpPr>
          <p:cNvPr id="7" name="Shape 4"/>
          <p:cNvSpPr/>
          <p:nvPr/>
        </p:nvSpPr>
        <p:spPr>
          <a:xfrm>
            <a:off x="658368" y="5074920"/>
            <a:ext cx="2926080" cy="0"/>
          </a:xfrm>
          <a:prstGeom prst="line">
            <a:avLst/>
          </a:prstGeom>
          <a:noFill/>
          <a:ln w="19050">
            <a:solidFill>
              <a:srgbClr val="FFFFFF"/>
            </a:solidFill>
            <a:prstDash val="solid"/>
          </a:ln>
        </p:spPr>
      </p:sp>
      <p:sp>
        <p:nvSpPr>
          <p:cNvPr id="8" name="Text 5"/>
          <p:cNvSpPr/>
          <p:nvPr/>
        </p:nvSpPr>
        <p:spPr>
          <a:xfrm>
            <a:off x="658368" y="5285232"/>
            <a:ext cx="9601200" cy="1280160"/>
          </a:xfrm>
          <a:prstGeom prst="rect">
            <a:avLst/>
          </a:prstGeom>
          <a:noFill/>
          <a:ln/>
        </p:spPr>
        <p:txBody>
          <a:bodyPr wrap="square" rtlCol="0" anchor="ctr"/>
          <a:lstStyle/>
          <a:p>
            <a:pPr marL="0" indent="0">
              <a:lnSpc>
                <a:spcPct val="135000"/>
              </a:lnSpc>
              <a:buNone/>
            </a:pPr>
            <a:r>
              <a:rPr lang="en-US" sz="1300" b="1" dirty="0">
                <a:solidFill>
                  <a:srgbClr val="F1D9DC"/>
                </a:solidFill>
                <a:latin typeface="Calibri" pitchFamily="34" charset="0"/>
                <a:ea typeface="Calibri" pitchFamily="34" charset="-122"/>
                <a:cs typeface="Calibri" pitchFamily="34" charset="-120"/>
              </a:rPr>
              <a:t>Submitted by  </a:t>
            </a:r>
            <a:r>
              <a:rPr lang="en-US" sz="1300" dirty="0">
                <a:solidFill>
                  <a:srgbClr val="FFFFFF"/>
                </a:solidFill>
                <a:latin typeface="Calibri" pitchFamily="34" charset="0"/>
                <a:ea typeface="Calibri" pitchFamily="34" charset="-122"/>
                <a:cs typeface="Calibri" pitchFamily="34" charset="-120"/>
              </a:rPr>
              <a:t>Abhin S — Reg. No. 12411257 · Group 52 · Section 324EQ
</a:t>
            </a:r>
            <a:r>
              <a:rPr lang="en-US" sz="1300" b="1" dirty="0">
                <a:solidFill>
                  <a:srgbClr val="F1D9DC"/>
                </a:solidFill>
                <a:latin typeface="Calibri" pitchFamily="34" charset="0"/>
                <a:ea typeface="Calibri" pitchFamily="34" charset="-122"/>
                <a:cs typeface="Calibri" pitchFamily="34" charset="-120"/>
              </a:rPr>
              <a:t>Guided by  </a:t>
            </a:r>
            <a:r>
              <a:rPr lang="en-US" sz="1300" dirty="0">
                <a:solidFill>
                  <a:srgbClr val="FFFFFF"/>
                </a:solidFill>
                <a:latin typeface="Calibri" pitchFamily="34" charset="0"/>
                <a:ea typeface="Calibri" pitchFamily="34" charset="-122"/>
                <a:cs typeface="Calibri" pitchFamily="34" charset="-120"/>
              </a:rPr>
              <a:t>Dr. Ravi Kant Sahu
</a:t>
            </a:r>
            <a:r>
              <a:rPr lang="en-US" sz="1300" i="1" dirty="0">
                <a:solidFill>
                  <a:srgbClr val="F1D9DC"/>
                </a:solidFill>
                <a:latin typeface="Calibri" pitchFamily="34" charset="0"/>
                <a:ea typeface="Calibri" pitchFamily="34" charset="-122"/>
                <a:cs typeface="Calibri" pitchFamily="34" charset="-120"/>
              </a:rPr>
              <a:t>School of Computing &amp; Artificial Intelligence, Lovely Professional University, Phagwara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DECLARATION</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Originality &amp; Certification</a:t>
            </a:r>
            <a:endParaRPr lang="en-US" sz="3000" dirty="0"/>
          </a:p>
        </p:txBody>
      </p:sp>
      <p:sp>
        <p:nvSpPr>
          <p:cNvPr id="4" name="Shape 2"/>
          <p:cNvSpPr/>
          <p:nvPr/>
        </p:nvSpPr>
        <p:spPr>
          <a:xfrm>
            <a:off x="548640" y="1691640"/>
            <a:ext cx="11091672" cy="4160520"/>
          </a:xfrm>
          <a:prstGeom prst="roundRect">
            <a:avLst>
              <a:gd name="adj" fmla="val 2637"/>
            </a:avLst>
          </a:prstGeom>
          <a:solidFill>
            <a:srgbClr val="FFFFFF"/>
          </a:solidFill>
          <a:ln w="12700">
            <a:solidFill>
              <a:srgbClr val="E7DAD9"/>
            </a:solidFill>
            <a:prstDash val="solid"/>
          </a:ln>
          <a:effectLst>
            <a:outerShdw blurRad="127000" dist="38100" dir="5400000" algn="bl" rotWithShape="0">
              <a:srgbClr val="000000">
                <a:alpha val="12000"/>
              </a:srgbClr>
            </a:outerShdw>
          </a:effectLst>
        </p:spPr>
      </p:sp>
      <p:sp>
        <p:nvSpPr>
          <p:cNvPr id="5" name="Shape 3"/>
          <p:cNvSpPr/>
          <p:nvPr/>
        </p:nvSpPr>
        <p:spPr>
          <a:xfrm>
            <a:off x="868680" y="1965960"/>
            <a:ext cx="502920" cy="502920"/>
          </a:xfrm>
          <a:prstGeom prst="roundRect">
            <a:avLst>
              <a:gd name="adj" fmla="val 50909"/>
            </a:avLst>
          </a:prstGeom>
          <a:solidFill>
            <a:srgbClr val="990011"/>
          </a:solidFill>
          <a:ln/>
        </p:spPr>
      </p:sp>
      <p:sp>
        <p:nvSpPr>
          <p:cNvPr id="6" name="Text 4"/>
          <p:cNvSpPr/>
          <p:nvPr/>
        </p:nvSpPr>
        <p:spPr>
          <a:xfrm>
            <a:off x="868680" y="1965960"/>
            <a:ext cx="502920" cy="502920"/>
          </a:xfrm>
          <a:prstGeom prst="rect">
            <a:avLst/>
          </a:prstGeom>
          <a:noFill/>
          <a:ln/>
        </p:spPr>
        <p:txBody>
          <a:bodyPr wrap="square" rtlCol="0" anchor="ctr"/>
          <a:lstStyle/>
          <a:p>
            <a:pPr marL="0" indent="0" algn="ctr">
              <a:buNone/>
            </a:pPr>
            <a:r>
              <a:rPr lang="en-US" sz="2200" b="1" dirty="0">
                <a:solidFill>
                  <a:srgbClr val="FFFFFF"/>
                </a:solidFill>
              </a:rPr>
              <a:t>✓</a:t>
            </a:r>
            <a:endParaRPr lang="en-US" sz="2200" dirty="0"/>
          </a:p>
        </p:txBody>
      </p:sp>
      <p:sp>
        <p:nvSpPr>
          <p:cNvPr id="7" name="Text 5"/>
          <p:cNvSpPr/>
          <p:nvPr/>
        </p:nvSpPr>
        <p:spPr>
          <a:xfrm>
            <a:off x="1600200" y="1920240"/>
            <a:ext cx="9692640" cy="1691640"/>
          </a:xfrm>
          <a:prstGeom prst="rect">
            <a:avLst/>
          </a:prstGeom>
          <a:noFill/>
          <a:ln/>
        </p:spPr>
        <p:txBody>
          <a:bodyPr wrap="square" rtlCol="0" anchor="ctr"/>
          <a:lstStyle/>
          <a:p>
            <a:pPr marL="0" indent="0">
              <a:lnSpc>
                <a:spcPct val="130000"/>
              </a:lnSpc>
              <a:buNone/>
            </a:pPr>
            <a:r>
              <a:rPr lang="en-US" sz="1450" i="1" dirty="0">
                <a:solidFill>
                  <a:srgbClr val="2B2B2B"/>
                </a:solidFill>
                <a:latin typeface="Calibri" pitchFamily="34" charset="0"/>
                <a:ea typeface="Calibri" pitchFamily="34" charset="-122"/>
                <a:cs typeface="Calibri" pitchFamily="34" charset="-120"/>
              </a:rPr>
              <a:t>I hereby certify that the project titled “Smart Blood Donation Emergency Matching System” is a genuine representation of my own work, carried out as part of the CA-PETV143 project requirement at Lovely Professional University, Phagwara, under the supervision of Professor Dr. Ravi Kant Sahu during June–July 2026. All data and insights presented in this report are the result of my own dedicated effort and are entirely original.</a:t>
            </a:r>
            <a:endParaRPr lang="en-US" sz="1450" dirty="0"/>
          </a:p>
        </p:txBody>
      </p:sp>
      <p:sp>
        <p:nvSpPr>
          <p:cNvPr id="8" name="Shape 6"/>
          <p:cNvSpPr/>
          <p:nvPr/>
        </p:nvSpPr>
        <p:spPr>
          <a:xfrm>
            <a:off x="1600200" y="3749040"/>
            <a:ext cx="9692640" cy="0"/>
          </a:xfrm>
          <a:prstGeom prst="line">
            <a:avLst/>
          </a:prstGeom>
          <a:noFill/>
          <a:ln w="12700">
            <a:solidFill>
              <a:srgbClr val="E7DAD9"/>
            </a:solidFill>
            <a:prstDash val="solid"/>
          </a:ln>
        </p:spPr>
      </p:sp>
      <p:sp>
        <p:nvSpPr>
          <p:cNvPr id="9" name="Text 7"/>
          <p:cNvSpPr/>
          <p:nvPr/>
        </p:nvSpPr>
        <p:spPr>
          <a:xfrm>
            <a:off x="1600200" y="3977640"/>
            <a:ext cx="2743200" cy="365760"/>
          </a:xfrm>
          <a:prstGeom prst="rect">
            <a:avLst/>
          </a:prstGeom>
          <a:noFill/>
          <a:ln/>
        </p:spPr>
        <p:txBody>
          <a:bodyPr wrap="square"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Name of Student:</a:t>
            </a:r>
            <a:endParaRPr lang="en-US" sz="1300" dirty="0"/>
          </a:p>
        </p:txBody>
      </p:sp>
      <p:sp>
        <p:nvSpPr>
          <p:cNvPr id="10" name="Text 8"/>
          <p:cNvSpPr/>
          <p:nvPr/>
        </p:nvSpPr>
        <p:spPr>
          <a:xfrm>
            <a:off x="4389120" y="3977640"/>
            <a:ext cx="5486400" cy="36576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Abhin S</a:t>
            </a:r>
            <a:endParaRPr lang="en-US" sz="1300" dirty="0"/>
          </a:p>
        </p:txBody>
      </p:sp>
      <p:sp>
        <p:nvSpPr>
          <p:cNvPr id="11" name="Text 9"/>
          <p:cNvSpPr/>
          <p:nvPr/>
        </p:nvSpPr>
        <p:spPr>
          <a:xfrm>
            <a:off x="1600200" y="4343400"/>
            <a:ext cx="2743200" cy="365760"/>
          </a:xfrm>
          <a:prstGeom prst="rect">
            <a:avLst/>
          </a:prstGeom>
          <a:noFill/>
          <a:ln/>
        </p:spPr>
        <p:txBody>
          <a:bodyPr wrap="square"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Registration No.:</a:t>
            </a:r>
            <a:endParaRPr lang="en-US" sz="1300" dirty="0"/>
          </a:p>
        </p:txBody>
      </p:sp>
      <p:sp>
        <p:nvSpPr>
          <p:cNvPr id="12" name="Text 10"/>
          <p:cNvSpPr/>
          <p:nvPr/>
        </p:nvSpPr>
        <p:spPr>
          <a:xfrm>
            <a:off x="4389120" y="4343400"/>
            <a:ext cx="5486400" cy="36576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12411257</a:t>
            </a:r>
            <a:endParaRPr lang="en-US" sz="1300" dirty="0"/>
          </a:p>
        </p:txBody>
      </p:sp>
      <p:sp>
        <p:nvSpPr>
          <p:cNvPr id="13" name="Text 11"/>
          <p:cNvSpPr/>
          <p:nvPr/>
        </p:nvSpPr>
        <p:spPr>
          <a:xfrm>
            <a:off x="1600200" y="4709160"/>
            <a:ext cx="2743200" cy="365760"/>
          </a:xfrm>
          <a:prstGeom prst="rect">
            <a:avLst/>
          </a:prstGeom>
          <a:noFill/>
          <a:ln/>
        </p:spPr>
        <p:txBody>
          <a:bodyPr wrap="square"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Group:</a:t>
            </a:r>
            <a:endParaRPr lang="en-US" sz="1300" dirty="0"/>
          </a:p>
        </p:txBody>
      </p:sp>
      <p:sp>
        <p:nvSpPr>
          <p:cNvPr id="14" name="Text 12"/>
          <p:cNvSpPr/>
          <p:nvPr/>
        </p:nvSpPr>
        <p:spPr>
          <a:xfrm>
            <a:off x="4389120" y="4709160"/>
            <a:ext cx="5486400" cy="36576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52</a:t>
            </a:r>
            <a:endParaRPr lang="en-US" sz="1300" dirty="0"/>
          </a:p>
        </p:txBody>
      </p:sp>
      <p:sp>
        <p:nvSpPr>
          <p:cNvPr id="15" name="Text 13"/>
          <p:cNvSpPr/>
          <p:nvPr/>
        </p:nvSpPr>
        <p:spPr>
          <a:xfrm>
            <a:off x="1600200" y="5074920"/>
            <a:ext cx="2743200" cy="365760"/>
          </a:xfrm>
          <a:prstGeom prst="rect">
            <a:avLst/>
          </a:prstGeom>
          <a:noFill/>
          <a:ln/>
        </p:spPr>
        <p:txBody>
          <a:bodyPr wrap="square"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Section:</a:t>
            </a:r>
            <a:endParaRPr lang="en-US" sz="1300" dirty="0"/>
          </a:p>
        </p:txBody>
      </p:sp>
      <p:sp>
        <p:nvSpPr>
          <p:cNvPr id="16" name="Text 14"/>
          <p:cNvSpPr/>
          <p:nvPr/>
        </p:nvSpPr>
        <p:spPr>
          <a:xfrm>
            <a:off x="4389120" y="5074920"/>
            <a:ext cx="5486400" cy="36576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324EQ</a:t>
            </a:r>
            <a:endParaRPr lang="en-US" sz="1300" dirty="0"/>
          </a:p>
        </p:txBody>
      </p:sp>
      <p:sp>
        <p:nvSpPr>
          <p:cNvPr id="17" name="Text 15"/>
          <p:cNvSpPr/>
          <p:nvPr/>
        </p:nvSpPr>
        <p:spPr>
          <a:xfrm>
            <a:off x="548640" y="6035040"/>
            <a:ext cx="11064240" cy="320040"/>
          </a:xfrm>
          <a:prstGeom prst="rect">
            <a:avLst/>
          </a:prstGeom>
          <a:noFill/>
          <a:ln/>
        </p:spPr>
        <p:txBody>
          <a:bodyPr wrap="square" rtlCol="0" anchor="ctr"/>
          <a:lstStyle/>
          <a:p>
            <a:pPr marL="0" indent="0" algn="ctr">
              <a:buNone/>
            </a:pPr>
            <a:r>
              <a:rPr lang="en-US" sz="1050" i="1" dirty="0">
                <a:solidFill>
                  <a:srgbClr val="6B6B6B"/>
                </a:solidFill>
                <a:latin typeface="Calibri" pitchFamily="34" charset="0"/>
                <a:ea typeface="Calibri" pitchFamily="34" charset="-122"/>
                <a:cs typeface="Calibri" pitchFamily="34" charset="-120"/>
              </a:rPr>
              <a:t>Note: insert the scanned LPU project-completion certificate image here before presenting.</a:t>
            </a:r>
            <a:endParaRPr lang="en-US" sz="1050" dirty="0"/>
          </a:p>
        </p:txBody>
      </p:sp>
      <p:sp>
        <p:nvSpPr>
          <p:cNvPr id="18" name="Text 16"/>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19" name="Text 17"/>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4BCB6B-868B-3E00-0D62-7AE65F7477B7}"/>
              </a:ext>
            </a:extLst>
          </p:cNvPr>
          <p:cNvPicPr>
            <a:picLocks noChangeAspect="1"/>
          </p:cNvPicPr>
          <p:nvPr/>
        </p:nvPicPr>
        <p:blipFill>
          <a:blip r:embed="rId2"/>
          <a:stretch>
            <a:fillRect/>
          </a:stretch>
        </p:blipFill>
        <p:spPr>
          <a:xfrm>
            <a:off x="2142598" y="632106"/>
            <a:ext cx="7906803" cy="5593787"/>
          </a:xfrm>
          <a:prstGeom prst="rect">
            <a:avLst/>
          </a:prstGeom>
        </p:spPr>
      </p:pic>
    </p:spTree>
    <p:extLst>
      <p:ext uri="{BB962C8B-B14F-4D97-AF65-F5344CB8AC3E}">
        <p14:creationId xmlns:p14="http://schemas.microsoft.com/office/powerpoint/2010/main" val="2044500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ABSTRACT</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Why This Project Matters</a:t>
            </a:r>
            <a:endParaRPr lang="en-US" sz="3000" dirty="0"/>
          </a:p>
        </p:txBody>
      </p:sp>
      <p:sp>
        <p:nvSpPr>
          <p:cNvPr id="4" name="Shape 2"/>
          <p:cNvSpPr/>
          <p:nvPr/>
        </p:nvSpPr>
        <p:spPr>
          <a:xfrm>
            <a:off x="548640" y="1691640"/>
            <a:ext cx="5989320" cy="4434840"/>
          </a:xfrm>
          <a:prstGeom prst="roundRect">
            <a:avLst>
              <a:gd name="adj" fmla="val 2062"/>
            </a:avLst>
          </a:prstGeom>
          <a:solidFill>
            <a:srgbClr val="990011"/>
          </a:solidFill>
          <a:ln/>
        </p:spPr>
      </p:sp>
      <p:sp>
        <p:nvSpPr>
          <p:cNvPr id="5" name="Text 3"/>
          <p:cNvSpPr/>
          <p:nvPr/>
        </p:nvSpPr>
        <p:spPr>
          <a:xfrm>
            <a:off x="914400" y="1965960"/>
            <a:ext cx="5303520" cy="41148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The Problem</a:t>
            </a:r>
            <a:endParaRPr lang="en-US" sz="1900" dirty="0"/>
          </a:p>
        </p:txBody>
      </p:sp>
      <p:sp>
        <p:nvSpPr>
          <p:cNvPr id="6" name="Text 4"/>
          <p:cNvSpPr/>
          <p:nvPr/>
        </p:nvSpPr>
        <p:spPr>
          <a:xfrm>
            <a:off x="914400" y="2423160"/>
            <a:ext cx="5303520" cy="1463040"/>
          </a:xfrm>
          <a:prstGeom prst="rect">
            <a:avLst/>
          </a:prstGeom>
          <a:noFill/>
          <a:ln/>
        </p:spPr>
        <p:txBody>
          <a:bodyPr wrap="square" rtlCol="0" anchor="ctr"/>
          <a:lstStyle/>
          <a:p>
            <a:pPr marL="0" indent="0">
              <a:lnSpc>
                <a:spcPct val="130000"/>
              </a:lnSpc>
              <a:buNone/>
            </a:pPr>
            <a:r>
              <a:rPr lang="en-US" sz="1350" dirty="0">
                <a:solidFill>
                  <a:srgbClr val="FBE5E7"/>
                </a:solidFill>
                <a:latin typeface="Calibri" pitchFamily="34" charset="0"/>
                <a:ea typeface="Calibri" pitchFamily="34" charset="-122"/>
                <a:cs typeface="Calibri" pitchFamily="34" charset="-120"/>
              </a:rPr>
              <a:t>Hospitals and blood banks often struggle to locate suitable donors quickly during emergencies. Manual, register-based donor records make searching slow, error-prone, and risky when every minute counts.</a:t>
            </a:r>
            <a:endParaRPr lang="en-US" sz="1350" dirty="0"/>
          </a:p>
        </p:txBody>
      </p:sp>
      <p:sp>
        <p:nvSpPr>
          <p:cNvPr id="7" name="Shape 5"/>
          <p:cNvSpPr/>
          <p:nvPr/>
        </p:nvSpPr>
        <p:spPr>
          <a:xfrm>
            <a:off x="914400" y="3977640"/>
            <a:ext cx="5303520" cy="0"/>
          </a:xfrm>
          <a:prstGeom prst="line">
            <a:avLst/>
          </a:prstGeom>
          <a:noFill/>
          <a:ln w="9525">
            <a:solidFill>
              <a:srgbClr val="FFFFFF">
                <a:alpha val="50000"/>
              </a:srgbClr>
            </a:solidFill>
            <a:prstDash val="solid"/>
          </a:ln>
        </p:spPr>
      </p:sp>
      <p:sp>
        <p:nvSpPr>
          <p:cNvPr id="8" name="Text 6"/>
          <p:cNvSpPr/>
          <p:nvPr/>
        </p:nvSpPr>
        <p:spPr>
          <a:xfrm>
            <a:off x="914400" y="4160520"/>
            <a:ext cx="5303520" cy="41148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The Solution</a:t>
            </a:r>
            <a:endParaRPr lang="en-US" sz="1900" dirty="0"/>
          </a:p>
        </p:txBody>
      </p:sp>
      <p:sp>
        <p:nvSpPr>
          <p:cNvPr id="9" name="Text 7"/>
          <p:cNvSpPr/>
          <p:nvPr/>
        </p:nvSpPr>
        <p:spPr>
          <a:xfrm>
            <a:off x="914400" y="4617720"/>
            <a:ext cx="5303520" cy="1371600"/>
          </a:xfrm>
          <a:prstGeom prst="rect">
            <a:avLst/>
          </a:prstGeom>
          <a:noFill/>
          <a:ln/>
        </p:spPr>
        <p:txBody>
          <a:bodyPr wrap="square" rtlCol="0" anchor="ctr"/>
          <a:lstStyle/>
          <a:p>
            <a:pPr marL="0" indent="0">
              <a:lnSpc>
                <a:spcPct val="130000"/>
              </a:lnSpc>
              <a:buNone/>
            </a:pPr>
            <a:r>
              <a:rPr lang="en-US" sz="1350" dirty="0">
                <a:solidFill>
                  <a:srgbClr val="FBE5E7"/>
                </a:solidFill>
                <a:latin typeface="Calibri" pitchFamily="34" charset="0"/>
                <a:ea typeface="Calibri" pitchFamily="34" charset="-122"/>
                <a:cs typeface="Calibri" pitchFamily="34" charset="-120"/>
              </a:rPr>
              <a:t>A C++ console application that digitizes donor records and uses purpose-built data structures to register, search, prioritize, and match donors to requests in real time.</a:t>
            </a:r>
            <a:endParaRPr lang="en-US" sz="1350" dirty="0"/>
          </a:p>
        </p:txBody>
      </p:sp>
      <p:sp>
        <p:nvSpPr>
          <p:cNvPr id="10" name="Shape 8"/>
          <p:cNvSpPr/>
          <p:nvPr/>
        </p:nvSpPr>
        <p:spPr>
          <a:xfrm>
            <a:off x="6858000" y="1691640"/>
            <a:ext cx="4754880" cy="1325880"/>
          </a:xfrm>
          <a:prstGeom prst="roundRect">
            <a:avLst>
              <a:gd name="adj" fmla="val 5517"/>
            </a:avLst>
          </a:prstGeom>
          <a:solidFill>
            <a:srgbClr val="FFFFFF"/>
          </a:solidFill>
          <a:ln w="12700">
            <a:solidFill>
              <a:srgbClr val="E7DAD9"/>
            </a:solidFill>
            <a:prstDash val="solid"/>
          </a:ln>
        </p:spPr>
      </p:sp>
      <p:sp>
        <p:nvSpPr>
          <p:cNvPr id="11" name="Text 9"/>
          <p:cNvSpPr/>
          <p:nvPr/>
        </p:nvSpPr>
        <p:spPr>
          <a:xfrm>
            <a:off x="7086600" y="1691640"/>
            <a:ext cx="1463040" cy="1325880"/>
          </a:xfrm>
          <a:prstGeom prst="rect">
            <a:avLst/>
          </a:prstGeom>
          <a:noFill/>
          <a:ln/>
        </p:spPr>
        <p:txBody>
          <a:bodyPr wrap="square" rtlCol="0" anchor="ctr"/>
          <a:lstStyle/>
          <a:p>
            <a:pPr marL="0" indent="0">
              <a:buNone/>
            </a:pPr>
            <a:r>
              <a:rPr lang="en-US" sz="3000" b="1" dirty="0">
                <a:solidFill>
                  <a:srgbClr val="990011"/>
                </a:solidFill>
                <a:latin typeface="Cambria" pitchFamily="34" charset="0"/>
                <a:ea typeface="Cambria" pitchFamily="34" charset="-122"/>
                <a:cs typeface="Cambria" pitchFamily="34" charset="-120"/>
              </a:rPr>
              <a:t>4</a:t>
            </a:r>
            <a:endParaRPr lang="en-US" sz="3000" dirty="0"/>
          </a:p>
        </p:txBody>
      </p:sp>
      <p:sp>
        <p:nvSpPr>
          <p:cNvPr id="12" name="Text 10"/>
          <p:cNvSpPr/>
          <p:nvPr/>
        </p:nvSpPr>
        <p:spPr>
          <a:xfrm>
            <a:off x="8503920" y="1691640"/>
            <a:ext cx="2926080" cy="1325880"/>
          </a:xfrm>
          <a:prstGeom prst="rect">
            <a:avLst/>
          </a:prstGeom>
          <a:noFill/>
          <a:ln/>
        </p:spPr>
        <p:txBody>
          <a:bodyPr wrap="square" rtlCol="0" anchor="ctr"/>
          <a:lstStyle/>
          <a:p>
            <a:pPr marL="0" indent="0">
              <a:lnSpc>
                <a:spcPct val="115000"/>
              </a:lnSpc>
              <a:buNone/>
            </a:pPr>
            <a:r>
              <a:rPr lang="en-US" sz="1300" dirty="0">
                <a:solidFill>
                  <a:srgbClr val="2B2B2B"/>
                </a:solidFill>
                <a:latin typeface="Calibri" pitchFamily="34" charset="0"/>
                <a:ea typeface="Calibri" pitchFamily="34" charset="-122"/>
                <a:cs typeface="Calibri" pitchFamily="34" charset="-120"/>
              </a:rPr>
              <a:t>STL data structures applied</a:t>
            </a:r>
            <a:endParaRPr lang="en-US" sz="1300" dirty="0"/>
          </a:p>
        </p:txBody>
      </p:sp>
      <p:sp>
        <p:nvSpPr>
          <p:cNvPr id="13" name="Shape 11"/>
          <p:cNvSpPr/>
          <p:nvPr/>
        </p:nvSpPr>
        <p:spPr>
          <a:xfrm>
            <a:off x="6858000" y="3246120"/>
            <a:ext cx="4754880" cy="1325880"/>
          </a:xfrm>
          <a:prstGeom prst="roundRect">
            <a:avLst>
              <a:gd name="adj" fmla="val 5517"/>
            </a:avLst>
          </a:prstGeom>
          <a:solidFill>
            <a:srgbClr val="FFFFFF"/>
          </a:solidFill>
          <a:ln w="12700">
            <a:solidFill>
              <a:srgbClr val="E7DAD9"/>
            </a:solidFill>
            <a:prstDash val="solid"/>
          </a:ln>
        </p:spPr>
      </p:sp>
      <p:sp>
        <p:nvSpPr>
          <p:cNvPr id="14" name="Text 12"/>
          <p:cNvSpPr/>
          <p:nvPr/>
        </p:nvSpPr>
        <p:spPr>
          <a:xfrm>
            <a:off x="7086600" y="3246120"/>
            <a:ext cx="1463040" cy="1325880"/>
          </a:xfrm>
          <a:prstGeom prst="rect">
            <a:avLst/>
          </a:prstGeom>
          <a:noFill/>
          <a:ln/>
        </p:spPr>
        <p:txBody>
          <a:bodyPr wrap="square" rtlCol="0" anchor="ctr"/>
          <a:lstStyle/>
          <a:p>
            <a:pPr marL="0" indent="0">
              <a:buNone/>
            </a:pPr>
            <a:r>
              <a:rPr lang="en-US" sz="3000" b="1" dirty="0">
                <a:solidFill>
                  <a:srgbClr val="990011"/>
                </a:solidFill>
                <a:latin typeface="Cambria" pitchFamily="34" charset="0"/>
                <a:ea typeface="Cambria" pitchFamily="34" charset="-122"/>
                <a:cs typeface="Cambria" pitchFamily="34" charset="-120"/>
              </a:rPr>
              <a:t>5</a:t>
            </a:r>
            <a:endParaRPr lang="en-US" sz="3000" dirty="0"/>
          </a:p>
        </p:txBody>
      </p:sp>
      <p:sp>
        <p:nvSpPr>
          <p:cNvPr id="15" name="Text 13"/>
          <p:cNvSpPr/>
          <p:nvPr/>
        </p:nvSpPr>
        <p:spPr>
          <a:xfrm>
            <a:off x="8503920" y="3246120"/>
            <a:ext cx="2926080" cy="1325880"/>
          </a:xfrm>
          <a:prstGeom prst="rect">
            <a:avLst/>
          </a:prstGeom>
          <a:noFill/>
          <a:ln/>
        </p:spPr>
        <p:txBody>
          <a:bodyPr wrap="square" rtlCol="0" anchor="ctr"/>
          <a:lstStyle/>
          <a:p>
            <a:pPr marL="0" indent="0">
              <a:lnSpc>
                <a:spcPct val="115000"/>
              </a:lnSpc>
              <a:buNone/>
            </a:pPr>
            <a:r>
              <a:rPr lang="en-US" sz="1300" dirty="0">
                <a:solidFill>
                  <a:srgbClr val="2B2B2B"/>
                </a:solidFill>
                <a:latin typeface="Calibri" pitchFamily="34" charset="0"/>
                <a:ea typeface="Calibri" pitchFamily="34" charset="-122"/>
                <a:cs typeface="Calibri" pitchFamily="34" charset="-120"/>
              </a:rPr>
              <a:t>functional modules</a:t>
            </a:r>
            <a:endParaRPr lang="en-US" sz="1300" dirty="0"/>
          </a:p>
        </p:txBody>
      </p:sp>
      <p:sp>
        <p:nvSpPr>
          <p:cNvPr id="16" name="Shape 14"/>
          <p:cNvSpPr/>
          <p:nvPr/>
        </p:nvSpPr>
        <p:spPr>
          <a:xfrm>
            <a:off x="6858000" y="4800600"/>
            <a:ext cx="4754880" cy="1325880"/>
          </a:xfrm>
          <a:prstGeom prst="roundRect">
            <a:avLst>
              <a:gd name="adj" fmla="val 5517"/>
            </a:avLst>
          </a:prstGeom>
          <a:solidFill>
            <a:srgbClr val="FFFFFF"/>
          </a:solidFill>
          <a:ln w="12700">
            <a:solidFill>
              <a:srgbClr val="E7DAD9"/>
            </a:solidFill>
            <a:prstDash val="solid"/>
          </a:ln>
        </p:spPr>
      </p:sp>
      <p:sp>
        <p:nvSpPr>
          <p:cNvPr id="17" name="Text 15"/>
          <p:cNvSpPr/>
          <p:nvPr/>
        </p:nvSpPr>
        <p:spPr>
          <a:xfrm>
            <a:off x="7086600" y="4800600"/>
            <a:ext cx="1463040" cy="1325880"/>
          </a:xfrm>
          <a:prstGeom prst="rect">
            <a:avLst/>
          </a:prstGeom>
          <a:noFill/>
          <a:ln/>
        </p:spPr>
        <p:txBody>
          <a:bodyPr wrap="square" rtlCol="0" anchor="ctr"/>
          <a:lstStyle/>
          <a:p>
            <a:pPr marL="0" indent="0">
              <a:buNone/>
            </a:pPr>
            <a:r>
              <a:rPr lang="en-US" sz="3000" b="1" dirty="0">
                <a:solidFill>
                  <a:srgbClr val="990011"/>
                </a:solidFill>
                <a:latin typeface="Cambria" pitchFamily="34" charset="0"/>
                <a:ea typeface="Cambria" pitchFamily="34" charset="-122"/>
                <a:cs typeface="Cambria" pitchFamily="34" charset="-120"/>
              </a:rPr>
              <a:t>O(1)</a:t>
            </a:r>
            <a:endParaRPr lang="en-US" sz="3000" dirty="0"/>
          </a:p>
        </p:txBody>
      </p:sp>
      <p:sp>
        <p:nvSpPr>
          <p:cNvPr id="18" name="Text 16"/>
          <p:cNvSpPr/>
          <p:nvPr/>
        </p:nvSpPr>
        <p:spPr>
          <a:xfrm>
            <a:off x="8503920" y="4800600"/>
            <a:ext cx="2926080" cy="1325880"/>
          </a:xfrm>
          <a:prstGeom prst="rect">
            <a:avLst/>
          </a:prstGeom>
          <a:noFill/>
          <a:ln/>
        </p:spPr>
        <p:txBody>
          <a:bodyPr wrap="square" rtlCol="0" anchor="ctr"/>
          <a:lstStyle/>
          <a:p>
            <a:pPr marL="0" indent="0">
              <a:lnSpc>
                <a:spcPct val="115000"/>
              </a:lnSpc>
              <a:buNone/>
            </a:pPr>
            <a:r>
              <a:rPr lang="en-US" sz="1300" dirty="0">
                <a:solidFill>
                  <a:srgbClr val="2B2B2B"/>
                </a:solidFill>
                <a:latin typeface="Calibri" pitchFamily="34" charset="0"/>
                <a:ea typeface="Calibri" pitchFamily="34" charset="-122"/>
                <a:cs typeface="Calibri" pitchFamily="34" charset="-120"/>
              </a:rPr>
              <a:t>avg. blood-group lookup</a:t>
            </a:r>
            <a:endParaRPr lang="en-US" sz="1300" dirty="0"/>
          </a:p>
        </p:txBody>
      </p:sp>
      <p:sp>
        <p:nvSpPr>
          <p:cNvPr id="19" name="Text 17"/>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20" name="Text 18"/>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1 · INTRODUCTION</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Problem Statement &amp; Objectives</a:t>
            </a:r>
            <a:endParaRPr lang="en-US" sz="3000" dirty="0"/>
          </a:p>
        </p:txBody>
      </p:sp>
      <p:sp>
        <p:nvSpPr>
          <p:cNvPr id="4" name="Shape 2"/>
          <p:cNvSpPr/>
          <p:nvPr/>
        </p:nvSpPr>
        <p:spPr>
          <a:xfrm>
            <a:off x="548640" y="1691640"/>
            <a:ext cx="5394960" cy="4434840"/>
          </a:xfrm>
          <a:prstGeom prst="roundRect">
            <a:avLst>
              <a:gd name="adj" fmla="val 2062"/>
            </a:avLst>
          </a:prstGeom>
          <a:solidFill>
            <a:srgbClr val="FFFFFF"/>
          </a:solidFill>
          <a:ln w="12700">
            <a:solidFill>
              <a:srgbClr val="E7DAD9"/>
            </a:solidFill>
            <a:prstDash val="solid"/>
          </a:ln>
        </p:spPr>
      </p:sp>
      <p:sp>
        <p:nvSpPr>
          <p:cNvPr id="5" name="Text 3"/>
          <p:cNvSpPr/>
          <p:nvPr/>
        </p:nvSpPr>
        <p:spPr>
          <a:xfrm>
            <a:off x="868680" y="1920240"/>
            <a:ext cx="4754880" cy="411480"/>
          </a:xfrm>
          <a:prstGeom prst="rect">
            <a:avLst/>
          </a:prstGeom>
          <a:noFill/>
          <a:ln/>
        </p:spPr>
        <p:txBody>
          <a:bodyPr wrap="square" rtlCol="0" anchor="ctr"/>
          <a:lstStyle/>
          <a:p>
            <a:pPr marL="0" indent="0">
              <a:buNone/>
            </a:pPr>
            <a:r>
              <a:rPr lang="en-US" sz="1800" b="1" dirty="0">
                <a:solidFill>
                  <a:srgbClr val="990011"/>
                </a:solidFill>
                <a:latin typeface="Cambria" pitchFamily="34" charset="0"/>
                <a:ea typeface="Cambria" pitchFamily="34" charset="-122"/>
                <a:cs typeface="Cambria" pitchFamily="34" charset="-120"/>
              </a:rPr>
              <a:t>The Problem</a:t>
            </a:r>
            <a:endParaRPr lang="en-US" sz="1800" dirty="0"/>
          </a:p>
        </p:txBody>
      </p:sp>
      <p:sp>
        <p:nvSpPr>
          <p:cNvPr id="6" name="Text 4"/>
          <p:cNvSpPr/>
          <p:nvPr/>
        </p:nvSpPr>
        <p:spPr>
          <a:xfrm>
            <a:off x="868680" y="2423160"/>
            <a:ext cx="4754880" cy="1280160"/>
          </a:xfrm>
          <a:prstGeom prst="rect">
            <a:avLst/>
          </a:prstGeom>
          <a:noFill/>
          <a:ln/>
        </p:spPr>
        <p:txBody>
          <a:bodyPr wrap="square" rtlCol="0" anchor="ctr"/>
          <a:lstStyle/>
          <a:p>
            <a:pPr marL="0" indent="0">
              <a:lnSpc>
                <a:spcPct val="130000"/>
              </a:lnSpc>
              <a:buNone/>
            </a:pPr>
            <a:r>
              <a:rPr lang="en-US" sz="1350" dirty="0">
                <a:solidFill>
                  <a:srgbClr val="2B2B2B"/>
                </a:solidFill>
                <a:latin typeface="Calibri" pitchFamily="34" charset="0"/>
                <a:ea typeface="Calibri" pitchFamily="34" charset="-122"/>
                <a:cs typeface="Calibri" pitchFamily="34" charset="-120"/>
              </a:rPr>
              <a:t>Blood is critical during accidents, surgeries and emergencies, but donor information kept in registers is slow and scattered to search — costing precious time when it matters most.</a:t>
            </a:r>
            <a:endParaRPr lang="en-US" sz="1350" dirty="0"/>
          </a:p>
        </p:txBody>
      </p:sp>
      <p:sp>
        <p:nvSpPr>
          <p:cNvPr id="7" name="Text 5"/>
          <p:cNvSpPr/>
          <p:nvPr/>
        </p:nvSpPr>
        <p:spPr>
          <a:xfrm>
            <a:off x="868680" y="3794760"/>
            <a:ext cx="4754880" cy="1005840"/>
          </a:xfrm>
          <a:prstGeom prst="rect">
            <a:avLst/>
          </a:prstGeom>
          <a:noFill/>
          <a:ln/>
        </p:spPr>
        <p:txBody>
          <a:bodyPr wrap="square" rtlCol="0" anchor="ctr"/>
          <a:lstStyle/>
          <a:p>
            <a:pPr marL="0" indent="0">
              <a:lnSpc>
                <a:spcPct val="130000"/>
              </a:lnSpc>
              <a:buNone/>
            </a:pPr>
            <a:r>
              <a:rPr lang="en-US" sz="1350" i="1" dirty="0">
                <a:solidFill>
                  <a:srgbClr val="6B6B6B"/>
                </a:solidFill>
                <a:latin typeface="Calibri" pitchFamily="34" charset="0"/>
                <a:ea typeface="Calibri" pitchFamily="34" charset="-122"/>
                <a:cs typeface="Calibri" pitchFamily="34" charset="-120"/>
              </a:rPr>
              <a:t>A digital, structured system removes this bottleneck — register, search, and match donors in seconds, not minutes.</a:t>
            </a:r>
            <a:endParaRPr lang="en-US" sz="1350" dirty="0"/>
          </a:p>
        </p:txBody>
      </p:sp>
      <p:sp>
        <p:nvSpPr>
          <p:cNvPr id="8" name="Shape 6"/>
          <p:cNvSpPr/>
          <p:nvPr/>
        </p:nvSpPr>
        <p:spPr>
          <a:xfrm>
            <a:off x="868680" y="4983480"/>
            <a:ext cx="4754880" cy="960120"/>
          </a:xfrm>
          <a:prstGeom prst="roundRect">
            <a:avLst>
              <a:gd name="adj" fmla="val 7619"/>
            </a:avLst>
          </a:prstGeom>
          <a:solidFill>
            <a:srgbClr val="FCF6F5"/>
          </a:solidFill>
          <a:ln w="12700">
            <a:solidFill>
              <a:srgbClr val="E7DAD9"/>
            </a:solidFill>
            <a:prstDash val="solid"/>
          </a:ln>
        </p:spPr>
      </p:sp>
      <p:sp>
        <p:nvSpPr>
          <p:cNvPr id="9" name="Text 7"/>
          <p:cNvSpPr/>
          <p:nvPr/>
        </p:nvSpPr>
        <p:spPr>
          <a:xfrm>
            <a:off x="1097280" y="5074920"/>
            <a:ext cx="4297680" cy="777240"/>
          </a:xfrm>
          <a:prstGeom prst="rect">
            <a:avLst/>
          </a:prstGeom>
          <a:noFill/>
          <a:ln/>
        </p:spPr>
        <p:txBody>
          <a:bodyPr wrap="square" rtlCol="0" anchor="ctr"/>
          <a:lstStyle/>
          <a:p>
            <a:pPr marL="0" indent="0">
              <a:buNone/>
            </a:pPr>
            <a:r>
              <a:rPr lang="en-US" sz="1250" b="1" dirty="0">
                <a:solidFill>
                  <a:srgbClr val="990011"/>
                </a:solidFill>
                <a:latin typeface="Calibri" pitchFamily="34" charset="0"/>
                <a:ea typeface="Calibri" pitchFamily="34" charset="-122"/>
                <a:cs typeface="Calibri" pitchFamily="34" charset="-120"/>
              </a:rPr>
              <a:t>Built as a stand-alone C++ console app — ideal for demonstrating DS/OOP concepts on a real social problem.</a:t>
            </a:r>
            <a:endParaRPr lang="en-US" sz="1250" dirty="0"/>
          </a:p>
        </p:txBody>
      </p:sp>
      <p:sp>
        <p:nvSpPr>
          <p:cNvPr id="10" name="Shape 8"/>
          <p:cNvSpPr/>
          <p:nvPr/>
        </p:nvSpPr>
        <p:spPr>
          <a:xfrm>
            <a:off x="6217920" y="1691640"/>
            <a:ext cx="5422392" cy="4434840"/>
          </a:xfrm>
          <a:prstGeom prst="roundRect">
            <a:avLst>
              <a:gd name="adj" fmla="val 2062"/>
            </a:avLst>
          </a:prstGeom>
          <a:solidFill>
            <a:srgbClr val="FFFFFF"/>
          </a:solidFill>
          <a:ln w="12700">
            <a:solidFill>
              <a:srgbClr val="E7DAD9"/>
            </a:solidFill>
            <a:prstDash val="solid"/>
          </a:ln>
        </p:spPr>
      </p:sp>
      <p:sp>
        <p:nvSpPr>
          <p:cNvPr id="11" name="Text 9"/>
          <p:cNvSpPr/>
          <p:nvPr/>
        </p:nvSpPr>
        <p:spPr>
          <a:xfrm>
            <a:off x="6537960" y="1920240"/>
            <a:ext cx="4754880" cy="411480"/>
          </a:xfrm>
          <a:prstGeom prst="rect">
            <a:avLst/>
          </a:prstGeom>
          <a:noFill/>
          <a:ln/>
        </p:spPr>
        <p:txBody>
          <a:bodyPr wrap="square" rtlCol="0" anchor="ctr"/>
          <a:lstStyle/>
          <a:p>
            <a:pPr marL="0" indent="0">
              <a:buNone/>
            </a:pPr>
            <a:r>
              <a:rPr lang="en-US" sz="1800" b="1" dirty="0">
                <a:solidFill>
                  <a:srgbClr val="990011"/>
                </a:solidFill>
                <a:latin typeface="Cambria" pitchFamily="34" charset="0"/>
                <a:ea typeface="Cambria" pitchFamily="34" charset="-122"/>
                <a:cs typeface="Cambria" pitchFamily="34" charset="-120"/>
              </a:rPr>
              <a:t>Key Objectives</a:t>
            </a:r>
            <a:endParaRPr lang="en-US" sz="1800" dirty="0"/>
          </a:p>
        </p:txBody>
      </p:sp>
      <p:sp>
        <p:nvSpPr>
          <p:cNvPr id="12" name="Text 10"/>
          <p:cNvSpPr/>
          <p:nvPr/>
        </p:nvSpPr>
        <p:spPr>
          <a:xfrm>
            <a:off x="6537960" y="2423160"/>
            <a:ext cx="4892040" cy="3566160"/>
          </a:xfrm>
          <a:prstGeom prst="rect">
            <a:avLst/>
          </a:prstGeom>
          <a:noFill/>
          <a:ln/>
        </p:spPr>
        <p:txBody>
          <a:bodyPr wrap="square" rtlCol="0" anchor="ctr"/>
          <a:lstStyle/>
          <a:p>
            <a:pPr marL="228600" indent="-228600">
              <a:lnSpc>
                <a:spcPct val="12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Maintain donor information digitally</a:t>
            </a:r>
            <a:endParaRPr lang="en-US" sz="1400" dirty="0"/>
          </a:p>
          <a:p>
            <a:pPr marL="228600" indent="-228600">
              <a:lnSpc>
                <a:spcPct val="12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Register new blood donors quickly</a:t>
            </a:r>
            <a:endParaRPr lang="en-US" sz="1400" dirty="0"/>
          </a:p>
          <a:p>
            <a:pPr marL="228600" indent="-228600">
              <a:lnSpc>
                <a:spcPct val="12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Search donors instantly by blood group</a:t>
            </a:r>
            <a:endParaRPr lang="en-US" sz="1400" dirty="0"/>
          </a:p>
          <a:p>
            <a:pPr marL="228600" indent="-228600">
              <a:lnSpc>
                <a:spcPct val="12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Manage &amp; prioritize emergency requests</a:t>
            </a:r>
            <a:endParaRPr lang="en-US" sz="1400" dirty="0"/>
          </a:p>
          <a:p>
            <a:pPr marL="228600" indent="-228600">
              <a:lnSpc>
                <a:spcPct val="12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Maintain a full donation history</a:t>
            </a:r>
            <a:endParaRPr lang="en-US" sz="1400" dirty="0"/>
          </a:p>
          <a:p>
            <a:pPr marL="228600" indent="-228600">
              <a:lnSpc>
                <a:spcPct val="12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Reduce time-to-find-a-donor</a:t>
            </a:r>
            <a:endParaRPr lang="en-US" sz="1400" dirty="0"/>
          </a:p>
          <a:p>
            <a:pPr marL="228600" indent="-228600">
              <a:lnSpc>
                <a:spcPct val="12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Apply OOP &amp; core Data Structures</a:t>
            </a:r>
            <a:endParaRPr lang="en-US" sz="1400" dirty="0"/>
          </a:p>
          <a:p>
            <a:pPr marL="228600" indent="-228600">
              <a:lnSpc>
                <a:spcPct val="12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Build a friendly console interface</a:t>
            </a:r>
            <a:endParaRPr lang="en-US" sz="1400" dirty="0"/>
          </a:p>
        </p:txBody>
      </p:sp>
      <p:sp>
        <p:nvSpPr>
          <p:cNvPr id="13" name="Text 11"/>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14" name="Text 12"/>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1 · INTRODUCTION</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Five Modules, One Workflow</a:t>
            </a:r>
            <a:endParaRPr lang="en-US" sz="3000" dirty="0"/>
          </a:p>
        </p:txBody>
      </p:sp>
      <p:sp>
        <p:nvSpPr>
          <p:cNvPr id="4" name="Shape 2"/>
          <p:cNvSpPr/>
          <p:nvPr/>
        </p:nvSpPr>
        <p:spPr>
          <a:xfrm>
            <a:off x="548640" y="1828800"/>
            <a:ext cx="2084832" cy="4160520"/>
          </a:xfrm>
          <a:prstGeom prst="roundRect">
            <a:avLst>
              <a:gd name="adj" fmla="val 4386"/>
            </a:avLst>
          </a:prstGeom>
          <a:solidFill>
            <a:srgbClr val="FFFFFF"/>
          </a:solidFill>
          <a:ln w="12700">
            <a:solidFill>
              <a:srgbClr val="E7DAD9"/>
            </a:solidFill>
            <a:prstDash val="solid"/>
          </a:ln>
          <a:effectLst>
            <a:outerShdw blurRad="76200" dist="25400" dir="5400000" algn="bl" rotWithShape="0">
              <a:srgbClr val="000000">
                <a:alpha val="8000"/>
              </a:srgbClr>
            </a:outerShdw>
          </a:effectLst>
        </p:spPr>
      </p:sp>
      <p:sp>
        <p:nvSpPr>
          <p:cNvPr id="5" name="Shape 3"/>
          <p:cNvSpPr/>
          <p:nvPr/>
        </p:nvSpPr>
        <p:spPr>
          <a:xfrm>
            <a:off x="1316736" y="2148840"/>
            <a:ext cx="548640" cy="548640"/>
          </a:xfrm>
          <a:prstGeom prst="roundRect">
            <a:avLst>
              <a:gd name="adj" fmla="val 50000"/>
            </a:avLst>
          </a:prstGeom>
          <a:solidFill>
            <a:srgbClr val="990011"/>
          </a:solidFill>
          <a:ln/>
        </p:spPr>
      </p:sp>
      <p:sp>
        <p:nvSpPr>
          <p:cNvPr id="6" name="Text 4"/>
          <p:cNvSpPr/>
          <p:nvPr/>
        </p:nvSpPr>
        <p:spPr>
          <a:xfrm>
            <a:off x="1316736" y="214884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658368" y="2880360"/>
            <a:ext cx="1865376" cy="777240"/>
          </a:xfrm>
          <a:prstGeom prst="rect">
            <a:avLst/>
          </a:prstGeom>
          <a:noFill/>
          <a:ln/>
        </p:spPr>
        <p:txBody>
          <a:bodyPr wrap="square" rtlCol="0" anchor="ctr"/>
          <a:lstStyle/>
          <a:p>
            <a:pPr marL="0" indent="0" algn="ctr">
              <a:lnSpc>
                <a:spcPct val="105000"/>
              </a:lnSpc>
              <a:buNone/>
            </a:pPr>
            <a:r>
              <a:rPr lang="en-US" sz="1450" b="1" dirty="0">
                <a:solidFill>
                  <a:srgbClr val="2B2B2B"/>
                </a:solidFill>
                <a:latin typeface="Cambria" pitchFamily="34" charset="0"/>
                <a:ea typeface="Cambria" pitchFamily="34" charset="-122"/>
                <a:cs typeface="Cambria" pitchFamily="34" charset="-120"/>
              </a:rPr>
              <a:t>Donor Management</a:t>
            </a:r>
            <a:endParaRPr lang="en-US" sz="1450" dirty="0"/>
          </a:p>
        </p:txBody>
      </p:sp>
      <p:sp>
        <p:nvSpPr>
          <p:cNvPr id="8" name="Text 6"/>
          <p:cNvSpPr/>
          <p:nvPr/>
        </p:nvSpPr>
        <p:spPr>
          <a:xfrm>
            <a:off x="713232" y="3703320"/>
            <a:ext cx="1755648" cy="201168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Register, search, update &amp; delete donor records</a:t>
            </a:r>
            <a:endParaRPr lang="en-US" sz="1150" dirty="0"/>
          </a:p>
        </p:txBody>
      </p:sp>
      <p:sp>
        <p:nvSpPr>
          <p:cNvPr id="9" name="Shape 7"/>
          <p:cNvSpPr/>
          <p:nvPr/>
        </p:nvSpPr>
        <p:spPr>
          <a:xfrm>
            <a:off x="2779776" y="1828800"/>
            <a:ext cx="2084832" cy="4160520"/>
          </a:xfrm>
          <a:prstGeom prst="roundRect">
            <a:avLst>
              <a:gd name="adj" fmla="val 4386"/>
            </a:avLst>
          </a:prstGeom>
          <a:solidFill>
            <a:srgbClr val="FFFFFF"/>
          </a:solidFill>
          <a:ln w="12700">
            <a:solidFill>
              <a:srgbClr val="E7DAD9"/>
            </a:solidFill>
            <a:prstDash val="solid"/>
          </a:ln>
          <a:effectLst>
            <a:outerShdw blurRad="76200" dist="25400" dir="5400000" algn="bl" rotWithShape="0">
              <a:srgbClr val="000000">
                <a:alpha val="8000"/>
              </a:srgbClr>
            </a:outerShdw>
          </a:effectLst>
        </p:spPr>
      </p:sp>
      <p:sp>
        <p:nvSpPr>
          <p:cNvPr id="10" name="Shape 8"/>
          <p:cNvSpPr/>
          <p:nvPr/>
        </p:nvSpPr>
        <p:spPr>
          <a:xfrm>
            <a:off x="3547872" y="2148840"/>
            <a:ext cx="548640" cy="548640"/>
          </a:xfrm>
          <a:prstGeom prst="roundRect">
            <a:avLst>
              <a:gd name="adj" fmla="val 50000"/>
            </a:avLst>
          </a:prstGeom>
          <a:solidFill>
            <a:srgbClr val="990011"/>
          </a:solidFill>
          <a:ln/>
        </p:spPr>
      </p:sp>
      <p:sp>
        <p:nvSpPr>
          <p:cNvPr id="11" name="Text 9"/>
          <p:cNvSpPr/>
          <p:nvPr/>
        </p:nvSpPr>
        <p:spPr>
          <a:xfrm>
            <a:off x="3547872" y="214884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2889504" y="2880360"/>
            <a:ext cx="1865376" cy="777240"/>
          </a:xfrm>
          <a:prstGeom prst="rect">
            <a:avLst/>
          </a:prstGeom>
          <a:noFill/>
          <a:ln/>
        </p:spPr>
        <p:txBody>
          <a:bodyPr wrap="square" rtlCol="0" anchor="ctr"/>
          <a:lstStyle/>
          <a:p>
            <a:pPr marL="0" indent="0" algn="ctr">
              <a:lnSpc>
                <a:spcPct val="105000"/>
              </a:lnSpc>
              <a:buNone/>
            </a:pPr>
            <a:r>
              <a:rPr lang="en-US" sz="1450" b="1" dirty="0">
                <a:solidFill>
                  <a:srgbClr val="2B2B2B"/>
                </a:solidFill>
                <a:latin typeface="Cambria" pitchFamily="34" charset="0"/>
                <a:ea typeface="Cambria" pitchFamily="34" charset="-122"/>
                <a:cs typeface="Cambria" pitchFamily="34" charset="-120"/>
              </a:rPr>
              <a:t>Blood Request Mgmt.</a:t>
            </a:r>
            <a:endParaRPr lang="en-US" sz="1450" dirty="0"/>
          </a:p>
        </p:txBody>
      </p:sp>
      <p:sp>
        <p:nvSpPr>
          <p:cNvPr id="13" name="Text 11"/>
          <p:cNvSpPr/>
          <p:nvPr/>
        </p:nvSpPr>
        <p:spPr>
          <a:xfrm>
            <a:off x="2944368" y="3703320"/>
            <a:ext cx="1755648" cy="201168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Log hospital/patient requests with priority</a:t>
            </a:r>
            <a:endParaRPr lang="en-US" sz="1150" dirty="0"/>
          </a:p>
        </p:txBody>
      </p:sp>
      <p:sp>
        <p:nvSpPr>
          <p:cNvPr id="14" name="Shape 12"/>
          <p:cNvSpPr/>
          <p:nvPr/>
        </p:nvSpPr>
        <p:spPr>
          <a:xfrm>
            <a:off x="5010912" y="1828800"/>
            <a:ext cx="2084832" cy="4160520"/>
          </a:xfrm>
          <a:prstGeom prst="roundRect">
            <a:avLst>
              <a:gd name="adj" fmla="val 4386"/>
            </a:avLst>
          </a:prstGeom>
          <a:solidFill>
            <a:srgbClr val="FFFFFF"/>
          </a:solidFill>
          <a:ln w="12700">
            <a:solidFill>
              <a:srgbClr val="E7DAD9"/>
            </a:solidFill>
            <a:prstDash val="solid"/>
          </a:ln>
          <a:effectLst>
            <a:outerShdw blurRad="76200" dist="25400" dir="5400000" algn="bl" rotWithShape="0">
              <a:srgbClr val="000000">
                <a:alpha val="8000"/>
              </a:srgbClr>
            </a:outerShdw>
          </a:effectLst>
        </p:spPr>
      </p:sp>
      <p:sp>
        <p:nvSpPr>
          <p:cNvPr id="15" name="Shape 13"/>
          <p:cNvSpPr/>
          <p:nvPr/>
        </p:nvSpPr>
        <p:spPr>
          <a:xfrm>
            <a:off x="5779008" y="2148840"/>
            <a:ext cx="548640" cy="548640"/>
          </a:xfrm>
          <a:prstGeom prst="roundRect">
            <a:avLst>
              <a:gd name="adj" fmla="val 50000"/>
            </a:avLst>
          </a:prstGeom>
          <a:solidFill>
            <a:srgbClr val="990011"/>
          </a:solidFill>
          <a:ln/>
        </p:spPr>
      </p:sp>
      <p:sp>
        <p:nvSpPr>
          <p:cNvPr id="16" name="Text 14"/>
          <p:cNvSpPr/>
          <p:nvPr/>
        </p:nvSpPr>
        <p:spPr>
          <a:xfrm>
            <a:off x="5779008" y="214884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5120640" y="2880360"/>
            <a:ext cx="1865376" cy="777240"/>
          </a:xfrm>
          <a:prstGeom prst="rect">
            <a:avLst/>
          </a:prstGeom>
          <a:noFill/>
          <a:ln/>
        </p:spPr>
        <p:txBody>
          <a:bodyPr wrap="square" rtlCol="0" anchor="ctr"/>
          <a:lstStyle/>
          <a:p>
            <a:pPr marL="0" indent="0" algn="ctr">
              <a:lnSpc>
                <a:spcPct val="105000"/>
              </a:lnSpc>
              <a:buNone/>
            </a:pPr>
            <a:r>
              <a:rPr lang="en-US" sz="1450" b="1" dirty="0">
                <a:solidFill>
                  <a:srgbClr val="2B2B2B"/>
                </a:solidFill>
                <a:latin typeface="Cambria" pitchFamily="34" charset="0"/>
                <a:ea typeface="Cambria" pitchFamily="34" charset="-122"/>
                <a:cs typeface="Cambria" pitchFamily="34" charset="-120"/>
              </a:rPr>
              <a:t>Emergency Matching</a:t>
            </a:r>
            <a:endParaRPr lang="en-US" sz="1450" dirty="0"/>
          </a:p>
        </p:txBody>
      </p:sp>
      <p:sp>
        <p:nvSpPr>
          <p:cNvPr id="18" name="Text 16"/>
          <p:cNvSpPr/>
          <p:nvPr/>
        </p:nvSpPr>
        <p:spPr>
          <a:xfrm>
            <a:off x="5175504" y="3703320"/>
            <a:ext cx="1755648" cy="201168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Instantly match a request to an available donor</a:t>
            </a:r>
            <a:endParaRPr lang="en-US" sz="1150" dirty="0"/>
          </a:p>
        </p:txBody>
      </p:sp>
      <p:sp>
        <p:nvSpPr>
          <p:cNvPr id="19" name="Shape 17"/>
          <p:cNvSpPr/>
          <p:nvPr/>
        </p:nvSpPr>
        <p:spPr>
          <a:xfrm>
            <a:off x="7242048" y="1828800"/>
            <a:ext cx="2084832" cy="4160520"/>
          </a:xfrm>
          <a:prstGeom prst="roundRect">
            <a:avLst>
              <a:gd name="adj" fmla="val 4386"/>
            </a:avLst>
          </a:prstGeom>
          <a:solidFill>
            <a:srgbClr val="FFFFFF"/>
          </a:solidFill>
          <a:ln w="12700">
            <a:solidFill>
              <a:srgbClr val="E7DAD9"/>
            </a:solidFill>
            <a:prstDash val="solid"/>
          </a:ln>
          <a:effectLst>
            <a:outerShdw blurRad="76200" dist="25400" dir="5400000" algn="bl" rotWithShape="0">
              <a:srgbClr val="000000">
                <a:alpha val="8000"/>
              </a:srgbClr>
            </a:outerShdw>
          </a:effectLst>
        </p:spPr>
      </p:sp>
      <p:sp>
        <p:nvSpPr>
          <p:cNvPr id="20" name="Shape 18"/>
          <p:cNvSpPr/>
          <p:nvPr/>
        </p:nvSpPr>
        <p:spPr>
          <a:xfrm>
            <a:off x="8010144" y="2148840"/>
            <a:ext cx="548640" cy="548640"/>
          </a:xfrm>
          <a:prstGeom prst="roundRect">
            <a:avLst>
              <a:gd name="adj" fmla="val 50000"/>
            </a:avLst>
          </a:prstGeom>
          <a:solidFill>
            <a:srgbClr val="990011"/>
          </a:solidFill>
          <a:ln/>
        </p:spPr>
      </p:sp>
      <p:sp>
        <p:nvSpPr>
          <p:cNvPr id="21" name="Text 19"/>
          <p:cNvSpPr/>
          <p:nvPr/>
        </p:nvSpPr>
        <p:spPr>
          <a:xfrm>
            <a:off x="8010144" y="214884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7351776" y="2880360"/>
            <a:ext cx="1865376" cy="777240"/>
          </a:xfrm>
          <a:prstGeom prst="rect">
            <a:avLst/>
          </a:prstGeom>
          <a:noFill/>
          <a:ln/>
        </p:spPr>
        <p:txBody>
          <a:bodyPr wrap="square" rtlCol="0" anchor="ctr"/>
          <a:lstStyle/>
          <a:p>
            <a:pPr marL="0" indent="0" algn="ctr">
              <a:lnSpc>
                <a:spcPct val="105000"/>
              </a:lnSpc>
              <a:buNone/>
            </a:pPr>
            <a:r>
              <a:rPr lang="en-US" sz="1450" b="1" dirty="0">
                <a:solidFill>
                  <a:srgbClr val="2B2B2B"/>
                </a:solidFill>
                <a:latin typeface="Cambria" pitchFamily="34" charset="0"/>
                <a:ea typeface="Cambria" pitchFamily="34" charset="-122"/>
                <a:cs typeface="Cambria" pitchFamily="34" charset="-120"/>
              </a:rPr>
              <a:t>Donation History</a:t>
            </a:r>
            <a:endParaRPr lang="en-US" sz="1450" dirty="0"/>
          </a:p>
        </p:txBody>
      </p:sp>
      <p:sp>
        <p:nvSpPr>
          <p:cNvPr id="23" name="Text 21"/>
          <p:cNvSpPr/>
          <p:nvPr/>
        </p:nvSpPr>
        <p:spPr>
          <a:xfrm>
            <a:off x="7406640" y="3703320"/>
            <a:ext cx="1755648" cy="201168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Chronological record of completed donations</a:t>
            </a:r>
            <a:endParaRPr lang="en-US" sz="1150" dirty="0"/>
          </a:p>
        </p:txBody>
      </p:sp>
      <p:sp>
        <p:nvSpPr>
          <p:cNvPr id="24" name="Shape 22"/>
          <p:cNvSpPr/>
          <p:nvPr/>
        </p:nvSpPr>
        <p:spPr>
          <a:xfrm>
            <a:off x="9473184" y="1828800"/>
            <a:ext cx="2084832" cy="4160520"/>
          </a:xfrm>
          <a:prstGeom prst="roundRect">
            <a:avLst>
              <a:gd name="adj" fmla="val 4386"/>
            </a:avLst>
          </a:prstGeom>
          <a:solidFill>
            <a:srgbClr val="FFFFFF"/>
          </a:solidFill>
          <a:ln w="12700">
            <a:solidFill>
              <a:srgbClr val="E7DAD9"/>
            </a:solidFill>
            <a:prstDash val="solid"/>
          </a:ln>
          <a:effectLst>
            <a:outerShdw blurRad="76200" dist="25400" dir="5400000" algn="bl" rotWithShape="0">
              <a:srgbClr val="000000">
                <a:alpha val="8000"/>
              </a:srgbClr>
            </a:outerShdw>
          </a:effectLst>
        </p:spPr>
      </p:sp>
      <p:sp>
        <p:nvSpPr>
          <p:cNvPr id="25" name="Shape 23"/>
          <p:cNvSpPr/>
          <p:nvPr/>
        </p:nvSpPr>
        <p:spPr>
          <a:xfrm>
            <a:off x="10241280" y="2148840"/>
            <a:ext cx="548640" cy="548640"/>
          </a:xfrm>
          <a:prstGeom prst="roundRect">
            <a:avLst>
              <a:gd name="adj" fmla="val 50000"/>
            </a:avLst>
          </a:prstGeom>
          <a:solidFill>
            <a:srgbClr val="990011"/>
          </a:solidFill>
          <a:ln/>
        </p:spPr>
      </p:sp>
      <p:sp>
        <p:nvSpPr>
          <p:cNvPr id="26" name="Text 24"/>
          <p:cNvSpPr/>
          <p:nvPr/>
        </p:nvSpPr>
        <p:spPr>
          <a:xfrm>
            <a:off x="10241280" y="214884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p:nvPr/>
        </p:nvSpPr>
        <p:spPr>
          <a:xfrm>
            <a:off x="9582912" y="2880360"/>
            <a:ext cx="1865376" cy="777240"/>
          </a:xfrm>
          <a:prstGeom prst="rect">
            <a:avLst/>
          </a:prstGeom>
          <a:noFill/>
          <a:ln/>
        </p:spPr>
        <p:txBody>
          <a:bodyPr wrap="square" rtlCol="0" anchor="ctr"/>
          <a:lstStyle/>
          <a:p>
            <a:pPr marL="0" indent="0" algn="ctr">
              <a:lnSpc>
                <a:spcPct val="105000"/>
              </a:lnSpc>
              <a:buNone/>
            </a:pPr>
            <a:r>
              <a:rPr lang="en-US" sz="1450" b="1" dirty="0">
                <a:solidFill>
                  <a:srgbClr val="2B2B2B"/>
                </a:solidFill>
                <a:latin typeface="Cambria" pitchFamily="34" charset="0"/>
                <a:ea typeface="Cambria" pitchFamily="34" charset="-122"/>
                <a:cs typeface="Cambria" pitchFamily="34" charset="-120"/>
              </a:rPr>
              <a:t>Reports</a:t>
            </a:r>
            <a:endParaRPr lang="en-US" sz="1450" dirty="0"/>
          </a:p>
        </p:txBody>
      </p:sp>
      <p:sp>
        <p:nvSpPr>
          <p:cNvPr id="28" name="Text 26"/>
          <p:cNvSpPr/>
          <p:nvPr/>
        </p:nvSpPr>
        <p:spPr>
          <a:xfrm>
            <a:off x="9637776" y="3703320"/>
            <a:ext cx="1755648" cy="201168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Live donor counts &amp; blood-group statistics</a:t>
            </a:r>
            <a:endParaRPr lang="en-US" sz="1150" dirty="0"/>
          </a:p>
        </p:txBody>
      </p:sp>
      <p:sp>
        <p:nvSpPr>
          <p:cNvPr id="29" name="Text 27"/>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30" name="Text 28"/>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1 · INTRODUCTION</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548640" y="1783080"/>
            <a:ext cx="3566160" cy="1965960"/>
          </a:xfrm>
          <a:prstGeom prst="roundRect">
            <a:avLst>
              <a:gd name="adj" fmla="val 4651"/>
            </a:avLst>
          </a:prstGeom>
          <a:solidFill>
            <a:srgbClr val="FFFFFF"/>
          </a:solidFill>
          <a:ln w="12700">
            <a:solidFill>
              <a:srgbClr val="E7DAD9"/>
            </a:solidFill>
            <a:prstDash val="solid"/>
          </a:ln>
        </p:spPr>
      </p:sp>
      <p:sp>
        <p:nvSpPr>
          <p:cNvPr id="5" name="Shape 3"/>
          <p:cNvSpPr/>
          <p:nvPr/>
        </p:nvSpPr>
        <p:spPr>
          <a:xfrm>
            <a:off x="777240" y="1984248"/>
            <a:ext cx="457200" cy="457200"/>
          </a:xfrm>
          <a:prstGeom prst="roundRect">
            <a:avLst>
              <a:gd name="adj" fmla="val 50000"/>
            </a:avLst>
          </a:prstGeom>
          <a:solidFill>
            <a:srgbClr val="990011"/>
          </a:solidFill>
          <a:ln/>
        </p:spPr>
      </p:sp>
      <p:sp>
        <p:nvSpPr>
          <p:cNvPr id="6" name="Text 4"/>
          <p:cNvSpPr/>
          <p:nvPr/>
        </p:nvSpPr>
        <p:spPr>
          <a:xfrm>
            <a:off x="777240" y="198424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71600" y="1947672"/>
            <a:ext cx="2560320" cy="502920"/>
          </a:xfrm>
          <a:prstGeom prst="rect">
            <a:avLst/>
          </a:prstGeom>
          <a:noFill/>
          <a:ln/>
        </p:spPr>
        <p:txBody>
          <a:bodyPr wrap="square"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C++</a:t>
            </a:r>
            <a:endParaRPr lang="en-US" sz="1700" dirty="0"/>
          </a:p>
        </p:txBody>
      </p:sp>
      <p:sp>
        <p:nvSpPr>
          <p:cNvPr id="8" name="Text 6"/>
          <p:cNvSpPr/>
          <p:nvPr/>
        </p:nvSpPr>
        <p:spPr>
          <a:xfrm>
            <a:off x="777240" y="2560320"/>
            <a:ext cx="3108960" cy="1097280"/>
          </a:xfrm>
          <a:prstGeom prst="rect">
            <a:avLst/>
          </a:prstGeom>
          <a:noFill/>
          <a:ln/>
        </p:spPr>
        <p:txBody>
          <a:bodyPr wrap="square" rtlCol="0" anchor="ctr"/>
          <a:lstStyle/>
          <a:p>
            <a:pPr marL="0" indent="0">
              <a:lnSpc>
                <a:spcPct val="125000"/>
              </a:lnSpc>
              <a:buNone/>
            </a:pPr>
            <a:r>
              <a:rPr lang="en-US" sz="1250" dirty="0">
                <a:solidFill>
                  <a:srgbClr val="2B2B2B"/>
                </a:solidFill>
                <a:latin typeface="Calibri" pitchFamily="34" charset="0"/>
                <a:ea typeface="Calibri" pitchFamily="34" charset="-122"/>
                <a:cs typeface="Calibri" pitchFamily="34" charset="-120"/>
              </a:rPr>
              <a:t>Core programming language for the entire application</a:t>
            </a:r>
            <a:endParaRPr lang="en-US" sz="1250" dirty="0"/>
          </a:p>
        </p:txBody>
      </p:sp>
      <p:sp>
        <p:nvSpPr>
          <p:cNvPr id="9" name="Shape 7"/>
          <p:cNvSpPr/>
          <p:nvPr/>
        </p:nvSpPr>
        <p:spPr>
          <a:xfrm>
            <a:off x="4343400" y="1783080"/>
            <a:ext cx="3566160" cy="1965960"/>
          </a:xfrm>
          <a:prstGeom prst="roundRect">
            <a:avLst>
              <a:gd name="adj" fmla="val 4651"/>
            </a:avLst>
          </a:prstGeom>
          <a:solidFill>
            <a:srgbClr val="FFFFFF"/>
          </a:solidFill>
          <a:ln w="12700">
            <a:solidFill>
              <a:srgbClr val="E7DAD9"/>
            </a:solidFill>
            <a:prstDash val="solid"/>
          </a:ln>
        </p:spPr>
      </p:sp>
      <p:sp>
        <p:nvSpPr>
          <p:cNvPr id="10" name="Shape 8"/>
          <p:cNvSpPr/>
          <p:nvPr/>
        </p:nvSpPr>
        <p:spPr>
          <a:xfrm>
            <a:off x="4572000" y="1984248"/>
            <a:ext cx="457200" cy="457200"/>
          </a:xfrm>
          <a:prstGeom prst="roundRect">
            <a:avLst>
              <a:gd name="adj" fmla="val 50000"/>
            </a:avLst>
          </a:prstGeom>
          <a:solidFill>
            <a:srgbClr val="990011"/>
          </a:solidFill>
          <a:ln/>
        </p:spPr>
      </p:sp>
      <p:sp>
        <p:nvSpPr>
          <p:cNvPr id="11" name="Text 9"/>
          <p:cNvSpPr/>
          <p:nvPr/>
        </p:nvSpPr>
        <p:spPr>
          <a:xfrm>
            <a:off x="4572000" y="198424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5166360" y="1947672"/>
            <a:ext cx="2560320" cy="502920"/>
          </a:xfrm>
          <a:prstGeom prst="rect">
            <a:avLst/>
          </a:prstGeom>
          <a:noFill/>
          <a:ln/>
        </p:spPr>
        <p:txBody>
          <a:bodyPr wrap="square"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OOP</a:t>
            </a:r>
            <a:endParaRPr lang="en-US" sz="1700" dirty="0"/>
          </a:p>
        </p:txBody>
      </p:sp>
      <p:sp>
        <p:nvSpPr>
          <p:cNvPr id="13" name="Text 11"/>
          <p:cNvSpPr/>
          <p:nvPr/>
        </p:nvSpPr>
        <p:spPr>
          <a:xfrm>
            <a:off x="4572000" y="2560320"/>
            <a:ext cx="3108960" cy="1097280"/>
          </a:xfrm>
          <a:prstGeom prst="rect">
            <a:avLst/>
          </a:prstGeom>
          <a:noFill/>
          <a:ln/>
        </p:spPr>
        <p:txBody>
          <a:bodyPr wrap="square" rtlCol="0" anchor="ctr"/>
          <a:lstStyle/>
          <a:p>
            <a:pPr marL="0" indent="0">
              <a:lnSpc>
                <a:spcPct val="125000"/>
              </a:lnSpc>
              <a:buNone/>
            </a:pPr>
            <a:r>
              <a:rPr lang="en-US" sz="1250" dirty="0">
                <a:solidFill>
                  <a:srgbClr val="2B2B2B"/>
                </a:solidFill>
                <a:latin typeface="Calibri" pitchFamily="34" charset="0"/>
                <a:ea typeface="Calibri" pitchFamily="34" charset="-122"/>
                <a:cs typeface="Calibri" pitchFamily="34" charset="-120"/>
              </a:rPr>
              <a:t>Classes for Donor, Request, History &amp; Managers</a:t>
            </a:r>
            <a:endParaRPr lang="en-US" sz="1250" dirty="0"/>
          </a:p>
        </p:txBody>
      </p:sp>
      <p:sp>
        <p:nvSpPr>
          <p:cNvPr id="14" name="Shape 12"/>
          <p:cNvSpPr/>
          <p:nvPr/>
        </p:nvSpPr>
        <p:spPr>
          <a:xfrm>
            <a:off x="8138160" y="1783080"/>
            <a:ext cx="3566160" cy="1965960"/>
          </a:xfrm>
          <a:prstGeom prst="roundRect">
            <a:avLst>
              <a:gd name="adj" fmla="val 4651"/>
            </a:avLst>
          </a:prstGeom>
          <a:solidFill>
            <a:srgbClr val="FFFFFF"/>
          </a:solidFill>
          <a:ln w="12700">
            <a:solidFill>
              <a:srgbClr val="E7DAD9"/>
            </a:solidFill>
            <a:prstDash val="solid"/>
          </a:ln>
        </p:spPr>
      </p:sp>
      <p:sp>
        <p:nvSpPr>
          <p:cNvPr id="15" name="Shape 13"/>
          <p:cNvSpPr/>
          <p:nvPr/>
        </p:nvSpPr>
        <p:spPr>
          <a:xfrm>
            <a:off x="8366760" y="1984248"/>
            <a:ext cx="457200" cy="457200"/>
          </a:xfrm>
          <a:prstGeom prst="roundRect">
            <a:avLst>
              <a:gd name="adj" fmla="val 50000"/>
            </a:avLst>
          </a:prstGeom>
          <a:solidFill>
            <a:srgbClr val="990011"/>
          </a:solidFill>
          <a:ln/>
        </p:spPr>
      </p:sp>
      <p:sp>
        <p:nvSpPr>
          <p:cNvPr id="16" name="Text 14"/>
          <p:cNvSpPr/>
          <p:nvPr/>
        </p:nvSpPr>
        <p:spPr>
          <a:xfrm>
            <a:off x="8366760" y="198424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961120" y="1947672"/>
            <a:ext cx="2560320" cy="502920"/>
          </a:xfrm>
          <a:prstGeom prst="rect">
            <a:avLst/>
          </a:prstGeom>
          <a:noFill/>
          <a:ln/>
        </p:spPr>
        <p:txBody>
          <a:bodyPr wrap="square"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STL</a:t>
            </a:r>
            <a:endParaRPr lang="en-US" sz="1700" dirty="0"/>
          </a:p>
        </p:txBody>
      </p:sp>
      <p:sp>
        <p:nvSpPr>
          <p:cNvPr id="18" name="Text 16"/>
          <p:cNvSpPr/>
          <p:nvPr/>
        </p:nvSpPr>
        <p:spPr>
          <a:xfrm>
            <a:off x="8366760" y="2560320"/>
            <a:ext cx="3108960" cy="1097280"/>
          </a:xfrm>
          <a:prstGeom prst="rect">
            <a:avLst/>
          </a:prstGeom>
          <a:noFill/>
          <a:ln/>
        </p:spPr>
        <p:txBody>
          <a:bodyPr wrap="square" rtlCol="0" anchor="ctr"/>
          <a:lstStyle/>
          <a:p>
            <a:pPr marL="0" indent="0">
              <a:lnSpc>
                <a:spcPct val="125000"/>
              </a:lnSpc>
              <a:buNone/>
            </a:pPr>
            <a:r>
              <a:rPr lang="en-US" sz="1250" dirty="0">
                <a:solidFill>
                  <a:srgbClr val="2B2B2B"/>
                </a:solidFill>
                <a:latin typeface="Calibri" pitchFamily="34" charset="0"/>
                <a:ea typeface="Calibri" pitchFamily="34" charset="-122"/>
                <a:cs typeface="Calibri" pitchFamily="34" charset="-120"/>
              </a:rPr>
              <a:t>vector, unordered_map, priority_queue, list</a:t>
            </a:r>
            <a:endParaRPr lang="en-US" sz="1250" dirty="0"/>
          </a:p>
        </p:txBody>
      </p:sp>
      <p:sp>
        <p:nvSpPr>
          <p:cNvPr id="19" name="Shape 17"/>
          <p:cNvSpPr/>
          <p:nvPr/>
        </p:nvSpPr>
        <p:spPr>
          <a:xfrm>
            <a:off x="548640" y="3977640"/>
            <a:ext cx="3566160" cy="1965960"/>
          </a:xfrm>
          <a:prstGeom prst="roundRect">
            <a:avLst>
              <a:gd name="adj" fmla="val 4651"/>
            </a:avLst>
          </a:prstGeom>
          <a:solidFill>
            <a:srgbClr val="FFFFFF"/>
          </a:solidFill>
          <a:ln w="12700">
            <a:solidFill>
              <a:srgbClr val="E7DAD9"/>
            </a:solidFill>
            <a:prstDash val="solid"/>
          </a:ln>
        </p:spPr>
      </p:sp>
      <p:sp>
        <p:nvSpPr>
          <p:cNvPr id="20" name="Shape 18"/>
          <p:cNvSpPr/>
          <p:nvPr/>
        </p:nvSpPr>
        <p:spPr>
          <a:xfrm>
            <a:off x="777240" y="4178808"/>
            <a:ext cx="457200" cy="457200"/>
          </a:xfrm>
          <a:prstGeom prst="roundRect">
            <a:avLst>
              <a:gd name="adj" fmla="val 50000"/>
            </a:avLst>
          </a:prstGeom>
          <a:solidFill>
            <a:srgbClr val="990011"/>
          </a:solidFill>
          <a:ln/>
        </p:spPr>
      </p:sp>
      <p:sp>
        <p:nvSpPr>
          <p:cNvPr id="21" name="Text 19"/>
          <p:cNvSpPr/>
          <p:nvPr/>
        </p:nvSpPr>
        <p:spPr>
          <a:xfrm>
            <a:off x="777240" y="41788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71600" y="4142232"/>
            <a:ext cx="2560320" cy="502920"/>
          </a:xfrm>
          <a:prstGeom prst="rect">
            <a:avLst/>
          </a:prstGeom>
          <a:noFill/>
          <a:ln/>
        </p:spPr>
        <p:txBody>
          <a:bodyPr wrap="square"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VS Code</a:t>
            </a:r>
            <a:endParaRPr lang="en-US" sz="1700" dirty="0"/>
          </a:p>
        </p:txBody>
      </p:sp>
      <p:sp>
        <p:nvSpPr>
          <p:cNvPr id="23" name="Text 21"/>
          <p:cNvSpPr/>
          <p:nvPr/>
        </p:nvSpPr>
        <p:spPr>
          <a:xfrm>
            <a:off x="777240" y="4754880"/>
            <a:ext cx="3108960" cy="1097280"/>
          </a:xfrm>
          <a:prstGeom prst="rect">
            <a:avLst/>
          </a:prstGeom>
          <a:noFill/>
          <a:ln/>
        </p:spPr>
        <p:txBody>
          <a:bodyPr wrap="square" rtlCol="0" anchor="ctr"/>
          <a:lstStyle/>
          <a:p>
            <a:pPr marL="0" indent="0">
              <a:lnSpc>
                <a:spcPct val="125000"/>
              </a:lnSpc>
              <a:buNone/>
            </a:pPr>
            <a:r>
              <a:rPr lang="en-US" sz="1250" dirty="0">
                <a:solidFill>
                  <a:srgbClr val="2B2B2B"/>
                </a:solidFill>
                <a:latin typeface="Calibri" pitchFamily="34" charset="0"/>
                <a:ea typeface="Calibri" pitchFamily="34" charset="-122"/>
                <a:cs typeface="Calibri" pitchFamily="34" charset="-120"/>
              </a:rPr>
              <a:t>Primary code editor for development</a:t>
            </a:r>
            <a:endParaRPr lang="en-US" sz="1250" dirty="0"/>
          </a:p>
        </p:txBody>
      </p:sp>
      <p:sp>
        <p:nvSpPr>
          <p:cNvPr id="24" name="Shape 22"/>
          <p:cNvSpPr/>
          <p:nvPr/>
        </p:nvSpPr>
        <p:spPr>
          <a:xfrm>
            <a:off x="4343400" y="3977640"/>
            <a:ext cx="3566160" cy="1965960"/>
          </a:xfrm>
          <a:prstGeom prst="roundRect">
            <a:avLst>
              <a:gd name="adj" fmla="val 4651"/>
            </a:avLst>
          </a:prstGeom>
          <a:solidFill>
            <a:srgbClr val="FFFFFF"/>
          </a:solidFill>
          <a:ln w="12700">
            <a:solidFill>
              <a:srgbClr val="E7DAD9"/>
            </a:solidFill>
            <a:prstDash val="solid"/>
          </a:ln>
        </p:spPr>
      </p:sp>
      <p:sp>
        <p:nvSpPr>
          <p:cNvPr id="25" name="Shape 23"/>
          <p:cNvSpPr/>
          <p:nvPr/>
        </p:nvSpPr>
        <p:spPr>
          <a:xfrm>
            <a:off x="4572000" y="4178808"/>
            <a:ext cx="457200" cy="457200"/>
          </a:xfrm>
          <a:prstGeom prst="roundRect">
            <a:avLst>
              <a:gd name="adj" fmla="val 50000"/>
            </a:avLst>
          </a:prstGeom>
          <a:solidFill>
            <a:srgbClr val="990011"/>
          </a:solidFill>
          <a:ln/>
        </p:spPr>
      </p:sp>
      <p:sp>
        <p:nvSpPr>
          <p:cNvPr id="26" name="Text 24"/>
          <p:cNvSpPr/>
          <p:nvPr/>
        </p:nvSpPr>
        <p:spPr>
          <a:xfrm>
            <a:off x="4572000" y="41788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5166360" y="4142232"/>
            <a:ext cx="2560320" cy="502920"/>
          </a:xfrm>
          <a:prstGeom prst="rect">
            <a:avLst/>
          </a:prstGeom>
          <a:noFill/>
          <a:ln/>
        </p:spPr>
        <p:txBody>
          <a:bodyPr wrap="square"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MinGW g++</a:t>
            </a:r>
            <a:endParaRPr lang="en-US" sz="1700" dirty="0"/>
          </a:p>
        </p:txBody>
      </p:sp>
      <p:sp>
        <p:nvSpPr>
          <p:cNvPr id="28" name="Text 26"/>
          <p:cNvSpPr/>
          <p:nvPr/>
        </p:nvSpPr>
        <p:spPr>
          <a:xfrm>
            <a:off x="4572000" y="4754880"/>
            <a:ext cx="3108960" cy="1097280"/>
          </a:xfrm>
          <a:prstGeom prst="rect">
            <a:avLst/>
          </a:prstGeom>
          <a:noFill/>
          <a:ln/>
        </p:spPr>
        <p:txBody>
          <a:bodyPr wrap="square" rtlCol="0" anchor="ctr"/>
          <a:lstStyle/>
          <a:p>
            <a:pPr marL="0" indent="0">
              <a:lnSpc>
                <a:spcPct val="125000"/>
              </a:lnSpc>
              <a:buNone/>
            </a:pPr>
            <a:r>
              <a:rPr lang="en-US" sz="1250" dirty="0">
                <a:solidFill>
                  <a:srgbClr val="2B2B2B"/>
                </a:solidFill>
                <a:latin typeface="Calibri" pitchFamily="34" charset="0"/>
                <a:ea typeface="Calibri" pitchFamily="34" charset="-122"/>
                <a:cs typeface="Calibri" pitchFamily="34" charset="-120"/>
              </a:rPr>
              <a:t>Compiler used to build &amp; run the project</a:t>
            </a:r>
            <a:endParaRPr lang="en-US" sz="1250" dirty="0"/>
          </a:p>
        </p:txBody>
      </p:sp>
      <p:sp>
        <p:nvSpPr>
          <p:cNvPr id="29" name="Shape 27"/>
          <p:cNvSpPr/>
          <p:nvPr/>
        </p:nvSpPr>
        <p:spPr>
          <a:xfrm>
            <a:off x="8138160" y="3977640"/>
            <a:ext cx="3566160" cy="1965960"/>
          </a:xfrm>
          <a:prstGeom prst="roundRect">
            <a:avLst>
              <a:gd name="adj" fmla="val 4651"/>
            </a:avLst>
          </a:prstGeom>
          <a:solidFill>
            <a:srgbClr val="FFFFFF"/>
          </a:solidFill>
          <a:ln w="12700">
            <a:solidFill>
              <a:srgbClr val="E7DAD9"/>
            </a:solidFill>
            <a:prstDash val="solid"/>
          </a:ln>
        </p:spPr>
      </p:sp>
      <p:sp>
        <p:nvSpPr>
          <p:cNvPr id="30" name="Shape 28"/>
          <p:cNvSpPr/>
          <p:nvPr/>
        </p:nvSpPr>
        <p:spPr>
          <a:xfrm>
            <a:off x="8366760" y="4178808"/>
            <a:ext cx="457200" cy="457200"/>
          </a:xfrm>
          <a:prstGeom prst="roundRect">
            <a:avLst>
              <a:gd name="adj" fmla="val 50000"/>
            </a:avLst>
          </a:prstGeom>
          <a:solidFill>
            <a:srgbClr val="990011"/>
          </a:solidFill>
          <a:ln/>
        </p:spPr>
      </p:sp>
      <p:sp>
        <p:nvSpPr>
          <p:cNvPr id="31" name="Text 29"/>
          <p:cNvSpPr/>
          <p:nvPr/>
        </p:nvSpPr>
        <p:spPr>
          <a:xfrm>
            <a:off x="8366760" y="417880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8961120" y="4142232"/>
            <a:ext cx="2560320" cy="502920"/>
          </a:xfrm>
          <a:prstGeom prst="rect">
            <a:avLst/>
          </a:prstGeom>
          <a:noFill/>
          <a:ln/>
        </p:spPr>
        <p:txBody>
          <a:bodyPr wrap="square"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fstream</a:t>
            </a:r>
            <a:endParaRPr lang="en-US" sz="1700" dirty="0"/>
          </a:p>
        </p:txBody>
      </p:sp>
      <p:sp>
        <p:nvSpPr>
          <p:cNvPr id="33" name="Text 31"/>
          <p:cNvSpPr/>
          <p:nvPr/>
        </p:nvSpPr>
        <p:spPr>
          <a:xfrm>
            <a:off x="8366760" y="4754880"/>
            <a:ext cx="3108960" cy="1097280"/>
          </a:xfrm>
          <a:prstGeom prst="rect">
            <a:avLst/>
          </a:prstGeom>
          <a:noFill/>
          <a:ln/>
        </p:spPr>
        <p:txBody>
          <a:bodyPr wrap="square" rtlCol="0" anchor="ctr"/>
          <a:lstStyle/>
          <a:p>
            <a:pPr marL="0" indent="0">
              <a:lnSpc>
                <a:spcPct val="125000"/>
              </a:lnSpc>
              <a:buNone/>
            </a:pPr>
            <a:r>
              <a:rPr lang="en-US" sz="1250" dirty="0">
                <a:solidFill>
                  <a:srgbClr val="2B2B2B"/>
                </a:solidFill>
                <a:latin typeface="Calibri" pitchFamily="34" charset="0"/>
                <a:ea typeface="Calibri" pitchFamily="34" charset="-122"/>
                <a:cs typeface="Calibri" pitchFamily="34" charset="-120"/>
              </a:rPr>
              <a:t>Permanent file-based storage of all records</a:t>
            </a:r>
            <a:endParaRPr lang="en-US" sz="1250" dirty="0"/>
          </a:p>
        </p:txBody>
      </p:sp>
      <p:sp>
        <p:nvSpPr>
          <p:cNvPr id="34" name="Text 32"/>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35" name="Text 3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3 · IMPLEMENTATION</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The Right Data Structure for Each Job</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023360"/>
        </p:xfrm>
        <a:graphic>
          <a:graphicData uri="http://schemas.openxmlformats.org/drawingml/2006/table">
            <a:tbl>
              <a:tblPr/>
              <a:tblGrid>
                <a:gridCol w="393192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tblGrid>
              <a:tr h="80467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Structure</a:t>
                      </a:r>
                      <a:endParaRPr lang="en-US" sz="130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99001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Why It's Used</a:t>
                      </a:r>
                      <a:endParaRPr lang="en-US" sz="130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99001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Complexity</a:t>
                      </a:r>
                      <a:endParaRPr lang="en-US" sz="130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804672">
                <a:tc>
                  <a:txBody>
                    <a:bodyPr/>
                    <a:lstStyle/>
                    <a:p>
                      <a:pPr marL="0" indent="0">
                        <a:buNone/>
                      </a:pPr>
                      <a:r>
                        <a:rPr lang="en-US" sz="1250" b="1" dirty="0">
                          <a:solidFill>
                            <a:srgbClr val="2F3C7E"/>
                          </a:solidFill>
                          <a:latin typeface="Consolas" pitchFamily="34" charset="0"/>
                          <a:ea typeface="Consolas" pitchFamily="34" charset="-122"/>
                          <a:cs typeface="Consolas" pitchFamily="34" charset="-120"/>
                        </a:rPr>
                        <a:t>vector&lt;Donor&gt;</a:t>
                      </a:r>
                      <a:endParaRPr lang="en-US" sz="1250" dirty="0">
                        <a:latin typeface="Consolas" charset="0"/>
                        <a:ea typeface="Consolas" charset="0"/>
                        <a:cs typeface="Consolas"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BF2F2"/>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Store all donor records</a:t>
                      </a:r>
                      <a:endParaRPr lang="en-US" sz="125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BF2F2"/>
                    </a:solidFill>
                  </a:tcPr>
                </a:tc>
                <a:tc>
                  <a:txBody>
                    <a:bodyPr/>
                    <a:lstStyle/>
                    <a:p>
                      <a:pPr marL="0" indent="0">
                        <a:buNone/>
                      </a:pPr>
                      <a:r>
                        <a:rPr lang="en-US" sz="1250" dirty="0">
                          <a:solidFill>
                            <a:srgbClr val="6B6B6B"/>
                          </a:solidFill>
                          <a:latin typeface="Calibri" pitchFamily="34" charset="0"/>
                          <a:ea typeface="Calibri" pitchFamily="34" charset="-122"/>
                          <a:cs typeface="Calibri" pitchFamily="34" charset="-120"/>
                        </a:rPr>
                        <a:t>Insert O(1)· Search O(n)</a:t>
                      </a:r>
                      <a:endParaRPr lang="en-US" sz="125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BF2F2"/>
                    </a:solidFill>
                  </a:tcPr>
                </a:tc>
                <a:extLst>
                  <a:ext uri="{0D108BD9-81ED-4DB2-BD59-A6C34878D82A}">
                    <a16:rowId xmlns:a16="http://schemas.microsoft.com/office/drawing/2014/main" val="10001"/>
                  </a:ext>
                </a:extLst>
              </a:tr>
              <a:tr h="804672">
                <a:tc>
                  <a:txBody>
                    <a:bodyPr/>
                    <a:lstStyle/>
                    <a:p>
                      <a:pPr marL="0" indent="0">
                        <a:buNone/>
                      </a:pPr>
                      <a:r>
                        <a:rPr lang="en-US" sz="1250" b="1" dirty="0">
                          <a:solidFill>
                            <a:srgbClr val="2F3C7E"/>
                          </a:solidFill>
                          <a:latin typeface="Consolas" pitchFamily="34" charset="0"/>
                          <a:ea typeface="Consolas" pitchFamily="34" charset="-122"/>
                          <a:cs typeface="Consolas" pitchFamily="34" charset="-120"/>
                        </a:rPr>
                        <a:t>unordered_map&lt;string, vector&lt;int&gt;&gt;</a:t>
                      </a:r>
                      <a:endParaRPr lang="en-US" sz="1250" dirty="0">
                        <a:latin typeface="Consolas" charset="0"/>
                        <a:ea typeface="Consolas" charset="0"/>
                        <a:cs typeface="Consolas"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Group donors by blood group for fast lookup</a:t>
                      </a:r>
                      <a:endParaRPr lang="en-US" sz="125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FFFFF"/>
                    </a:solidFill>
                  </a:tcPr>
                </a:tc>
                <a:tc>
                  <a:txBody>
                    <a:bodyPr/>
                    <a:lstStyle/>
                    <a:p>
                      <a:pPr marL="0" indent="0">
                        <a:buNone/>
                      </a:pPr>
                      <a:r>
                        <a:rPr lang="en-US" sz="1250" dirty="0">
                          <a:solidFill>
                            <a:srgbClr val="6B6B6B"/>
                          </a:solidFill>
                          <a:latin typeface="Calibri" pitchFamily="34" charset="0"/>
                          <a:ea typeface="Calibri" pitchFamily="34" charset="-122"/>
                          <a:cs typeface="Calibri" pitchFamily="34" charset="-120"/>
                        </a:rPr>
                        <a:t>Search O(1) avg.</a:t>
                      </a:r>
                      <a:endParaRPr lang="en-US" sz="125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04672">
                <a:tc>
                  <a:txBody>
                    <a:bodyPr/>
                    <a:lstStyle/>
                    <a:p>
                      <a:pPr marL="0" indent="0">
                        <a:buNone/>
                      </a:pPr>
                      <a:r>
                        <a:rPr lang="en-US" sz="1250" b="1" dirty="0">
                          <a:solidFill>
                            <a:srgbClr val="2F3C7E"/>
                          </a:solidFill>
                          <a:latin typeface="Consolas" pitchFamily="34" charset="0"/>
                          <a:ea typeface="Consolas" pitchFamily="34" charset="-122"/>
                          <a:cs typeface="Consolas" pitchFamily="34" charset="-120"/>
                        </a:rPr>
                        <a:t>priority_queue&lt;BloodRequest&gt;</a:t>
                      </a:r>
                      <a:endParaRPr lang="en-US" sz="1250" dirty="0">
                        <a:latin typeface="Consolas" charset="0"/>
                        <a:ea typeface="Consolas" charset="0"/>
                        <a:cs typeface="Consolas"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BF2F2"/>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Serve emergency requests before normal ones</a:t>
                      </a:r>
                      <a:endParaRPr lang="en-US" sz="125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BF2F2"/>
                    </a:solidFill>
                  </a:tcPr>
                </a:tc>
                <a:tc>
                  <a:txBody>
                    <a:bodyPr/>
                    <a:lstStyle/>
                    <a:p>
                      <a:pPr marL="0" indent="0">
                        <a:buNone/>
                      </a:pPr>
                      <a:r>
                        <a:rPr lang="en-US" sz="1250" dirty="0">
                          <a:solidFill>
                            <a:srgbClr val="6B6B6B"/>
                          </a:solidFill>
                          <a:latin typeface="Calibri" pitchFamily="34" charset="0"/>
                          <a:ea typeface="Calibri" pitchFamily="34" charset="-122"/>
                          <a:cs typeface="Calibri" pitchFamily="34" charset="-120"/>
                        </a:rPr>
                        <a:t>Insert/Remove O(log n)</a:t>
                      </a:r>
                      <a:endParaRPr lang="en-US" sz="125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BF2F2"/>
                    </a:solidFill>
                  </a:tcPr>
                </a:tc>
                <a:extLst>
                  <a:ext uri="{0D108BD9-81ED-4DB2-BD59-A6C34878D82A}">
                    <a16:rowId xmlns:a16="http://schemas.microsoft.com/office/drawing/2014/main" val="10003"/>
                  </a:ext>
                </a:extLst>
              </a:tr>
              <a:tr h="804672">
                <a:tc>
                  <a:txBody>
                    <a:bodyPr/>
                    <a:lstStyle/>
                    <a:p>
                      <a:pPr marL="0" indent="0">
                        <a:buNone/>
                      </a:pPr>
                      <a:r>
                        <a:rPr lang="en-US" sz="1250" b="1" dirty="0">
                          <a:solidFill>
                            <a:srgbClr val="2F3C7E"/>
                          </a:solidFill>
                          <a:latin typeface="Consolas" pitchFamily="34" charset="0"/>
                          <a:ea typeface="Consolas" pitchFamily="34" charset="-122"/>
                          <a:cs typeface="Consolas" pitchFamily="34" charset="-120"/>
                        </a:rPr>
                        <a:t>list&lt;DonationRecord&gt;</a:t>
                      </a:r>
                      <a:endParaRPr lang="en-US" sz="1250" dirty="0">
                        <a:latin typeface="Consolas" charset="0"/>
                        <a:ea typeface="Consolas" charset="0"/>
                        <a:cs typeface="Consolas"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Preserve donation order for history</a:t>
                      </a:r>
                      <a:endParaRPr lang="en-US" sz="125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FFFFF"/>
                    </a:solidFill>
                  </a:tcPr>
                </a:tc>
                <a:tc>
                  <a:txBody>
                    <a:bodyPr/>
                    <a:lstStyle/>
                    <a:p>
                      <a:pPr marL="0" indent="0">
                        <a:buNone/>
                      </a:pPr>
                      <a:r>
                        <a:rPr lang="en-US" sz="1250" dirty="0">
                          <a:solidFill>
                            <a:srgbClr val="6B6B6B"/>
                          </a:solidFill>
                          <a:latin typeface="Calibri" pitchFamily="34" charset="0"/>
                          <a:ea typeface="Calibri" pitchFamily="34" charset="-122"/>
                          <a:cs typeface="Calibri" pitchFamily="34" charset="-120"/>
                        </a:rPr>
                        <a:t>Insert O(1)</a:t>
                      </a:r>
                      <a:endParaRPr lang="en-US" sz="1250" dirty="0">
                        <a:latin typeface="Calibri" charset="0"/>
                        <a:ea typeface="Calibri" charset="0"/>
                        <a:cs typeface="Calibri" charset="0"/>
                      </a:endParaRPr>
                    </a:p>
                  </a:txBody>
                  <a:tcPr marL="127000" marR="127000" marT="101600" marB="101600" anchor="ctr">
                    <a:lnL w="6350" cap="flat" cmpd="sng" algn="ctr">
                      <a:solidFill>
                        <a:srgbClr val="E7DAD9"/>
                      </a:solidFill>
                      <a:prstDash val="solid"/>
                      <a:round/>
                      <a:headEnd type="none" w="med" len="med"/>
                      <a:tailEnd type="none" w="med" len="med"/>
                    </a:lnL>
                    <a:lnR w="6350" cap="flat" cmpd="sng" algn="ctr">
                      <a:solidFill>
                        <a:srgbClr val="E7DAD9"/>
                      </a:solidFill>
                      <a:prstDash val="solid"/>
                      <a:round/>
                      <a:headEnd type="none" w="med" len="med"/>
                      <a:tailEnd type="none" w="med" len="med"/>
                    </a:lnR>
                    <a:lnT w="6350" cap="flat" cmpd="sng" algn="ctr">
                      <a:solidFill>
                        <a:srgbClr val="E7DAD9"/>
                      </a:solidFill>
                      <a:prstDash val="solid"/>
                      <a:round/>
                      <a:headEnd type="none" w="med" len="med"/>
                      <a:tailEnd type="none" w="med" len="med"/>
                    </a:lnT>
                    <a:lnB w="6350" cap="flat" cmpd="sng" algn="ctr">
                      <a:solidFill>
                        <a:srgbClr val="E7DA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5989320"/>
            <a:ext cx="11064240" cy="457200"/>
          </a:xfrm>
          <a:prstGeom prst="rect">
            <a:avLst/>
          </a:prstGeom>
          <a:noFill/>
          <a:ln/>
        </p:spPr>
        <p:txBody>
          <a:bodyPr wrap="square" rtlCol="0" anchor="ctr"/>
          <a:lstStyle/>
          <a:p>
            <a:pPr marL="0" indent="0">
              <a:buNone/>
            </a:pPr>
            <a:r>
              <a:rPr lang="en-US" sz="1250" i="1" dirty="0">
                <a:solidFill>
                  <a:srgbClr val="6B6B6B"/>
                </a:solidFill>
                <a:latin typeface="Calibri" pitchFamily="34" charset="0"/>
                <a:ea typeface="Calibri" pitchFamily="34" charset="-122"/>
                <a:cs typeface="Calibri" pitchFamily="34" charset="-120"/>
              </a:rPr>
              <a:t>A vector alone can't group donors by blood type efficiently — that's exactly what the unordered_map buys us.</a:t>
            </a:r>
            <a:endParaRPr lang="en-US" sz="1250" dirty="0"/>
          </a:p>
        </p:txBody>
      </p:sp>
      <p:sp>
        <p:nvSpPr>
          <p:cNvPr id="6" name="Text 3"/>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7" name="Text 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3 · IMPLEMENTATION</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Project Workflow</a:t>
            </a:r>
            <a:endParaRPr lang="en-US" sz="3000" dirty="0"/>
          </a:p>
        </p:txBody>
      </p:sp>
      <p:sp>
        <p:nvSpPr>
          <p:cNvPr id="4" name="Shape 2"/>
          <p:cNvSpPr/>
          <p:nvPr/>
        </p:nvSpPr>
        <p:spPr>
          <a:xfrm>
            <a:off x="548640" y="2834640"/>
            <a:ext cx="1691640" cy="960120"/>
          </a:xfrm>
          <a:prstGeom prst="roundRect">
            <a:avLst>
              <a:gd name="adj" fmla="val 9524"/>
            </a:avLst>
          </a:prstGeom>
          <a:solidFill>
            <a:srgbClr val="FFFFFF"/>
          </a:solidFill>
          <a:ln w="12700">
            <a:solidFill>
              <a:srgbClr val="E7DAD9"/>
            </a:solidFill>
            <a:prstDash val="solid"/>
          </a:ln>
          <a:effectLst>
            <a:outerShdw blurRad="63500" dist="25400" dir="5400000" algn="bl" rotWithShape="0">
              <a:srgbClr val="000000">
                <a:alpha val="10000"/>
              </a:srgbClr>
            </a:outerShdw>
          </a:effectLst>
        </p:spPr>
      </p:sp>
      <p:sp>
        <p:nvSpPr>
          <p:cNvPr id="5" name="Text 3"/>
          <p:cNvSpPr/>
          <p:nvPr/>
        </p:nvSpPr>
        <p:spPr>
          <a:xfrm>
            <a:off x="621792" y="2834640"/>
            <a:ext cx="1545336" cy="960120"/>
          </a:xfrm>
          <a:prstGeom prst="rect">
            <a:avLst/>
          </a:prstGeom>
          <a:noFill/>
          <a:ln/>
        </p:spPr>
        <p:txBody>
          <a:bodyPr wrap="square" rtlCol="0" anchor="ctr"/>
          <a:lstStyle/>
          <a:p>
            <a:pPr marL="0" indent="0" algn="ctr">
              <a:lnSpc>
                <a:spcPct val="110000"/>
              </a:lnSpc>
              <a:buNone/>
            </a:pPr>
            <a:r>
              <a:rPr lang="en-US" sz="1150" b="1" dirty="0">
                <a:solidFill>
                  <a:srgbClr val="2B2B2B"/>
                </a:solidFill>
                <a:latin typeface="Calibri" pitchFamily="34" charset="0"/>
                <a:ea typeface="Calibri" pitchFamily="34" charset="-122"/>
                <a:cs typeface="Calibri" pitchFamily="34" charset="-120"/>
              </a:rPr>
              <a:t>Start Program</a:t>
            </a:r>
            <a:endParaRPr lang="en-US" sz="1150" dirty="0"/>
          </a:p>
        </p:txBody>
      </p:sp>
      <p:sp>
        <p:nvSpPr>
          <p:cNvPr id="6" name="Text 4"/>
          <p:cNvSpPr/>
          <p:nvPr/>
        </p:nvSpPr>
        <p:spPr>
          <a:xfrm>
            <a:off x="2194560" y="2788920"/>
            <a:ext cx="279806" cy="1051560"/>
          </a:xfrm>
          <a:prstGeom prst="rect">
            <a:avLst/>
          </a:prstGeom>
          <a:noFill/>
          <a:ln/>
        </p:spPr>
        <p:txBody>
          <a:bodyPr wrap="square" rtlCol="0" anchor="ctr"/>
          <a:lstStyle/>
          <a:p>
            <a:pPr marL="0" indent="0" algn="ctr">
              <a:buNone/>
            </a:pPr>
            <a:r>
              <a:rPr lang="en-US" sz="2200" b="1" dirty="0">
                <a:solidFill>
                  <a:srgbClr val="990011"/>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428646" y="2834640"/>
            <a:ext cx="1691640" cy="960120"/>
          </a:xfrm>
          <a:prstGeom prst="roundRect">
            <a:avLst>
              <a:gd name="adj" fmla="val 9524"/>
            </a:avLst>
          </a:prstGeom>
          <a:solidFill>
            <a:srgbClr val="FFFFFF"/>
          </a:solidFill>
          <a:ln w="12700">
            <a:solidFill>
              <a:srgbClr val="E7DAD9"/>
            </a:solidFill>
            <a:prstDash val="solid"/>
          </a:ln>
          <a:effectLst>
            <a:outerShdw blurRad="63500" dist="25400" dir="5400000" algn="bl" rotWithShape="0">
              <a:srgbClr val="000000">
                <a:alpha val="10000"/>
              </a:srgbClr>
            </a:outerShdw>
          </a:effectLst>
        </p:spPr>
      </p:sp>
      <p:sp>
        <p:nvSpPr>
          <p:cNvPr id="8" name="Text 6"/>
          <p:cNvSpPr/>
          <p:nvPr/>
        </p:nvSpPr>
        <p:spPr>
          <a:xfrm>
            <a:off x="2501798" y="2834640"/>
            <a:ext cx="1545336" cy="960120"/>
          </a:xfrm>
          <a:prstGeom prst="rect">
            <a:avLst/>
          </a:prstGeom>
          <a:noFill/>
          <a:ln/>
        </p:spPr>
        <p:txBody>
          <a:bodyPr wrap="square" rtlCol="0" anchor="ctr"/>
          <a:lstStyle/>
          <a:p>
            <a:pPr marL="0" indent="0" algn="ctr">
              <a:lnSpc>
                <a:spcPct val="110000"/>
              </a:lnSpc>
              <a:buNone/>
            </a:pPr>
            <a:r>
              <a:rPr lang="en-US" sz="1150" b="1" dirty="0">
                <a:solidFill>
                  <a:srgbClr val="2B2B2B"/>
                </a:solidFill>
                <a:latin typeface="Calibri" pitchFamily="34" charset="0"/>
                <a:ea typeface="Calibri" pitchFamily="34" charset="-122"/>
                <a:cs typeface="Calibri" pitchFamily="34" charset="-120"/>
              </a:rPr>
              <a:t>Main Menu</a:t>
            </a:r>
            <a:endParaRPr lang="en-US" sz="1150" dirty="0"/>
          </a:p>
        </p:txBody>
      </p:sp>
      <p:sp>
        <p:nvSpPr>
          <p:cNvPr id="9" name="Text 7"/>
          <p:cNvSpPr/>
          <p:nvPr/>
        </p:nvSpPr>
        <p:spPr>
          <a:xfrm>
            <a:off x="4074566" y="2788920"/>
            <a:ext cx="279806" cy="1051560"/>
          </a:xfrm>
          <a:prstGeom prst="rect">
            <a:avLst/>
          </a:prstGeom>
          <a:noFill/>
          <a:ln/>
        </p:spPr>
        <p:txBody>
          <a:bodyPr wrap="square" rtlCol="0" anchor="ctr"/>
          <a:lstStyle/>
          <a:p>
            <a:pPr marL="0" indent="0" algn="ctr">
              <a:buNone/>
            </a:pPr>
            <a:r>
              <a:rPr lang="en-US" sz="2200" b="1" dirty="0">
                <a:solidFill>
                  <a:srgbClr val="990011"/>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308653" y="2834640"/>
            <a:ext cx="1691640" cy="960120"/>
          </a:xfrm>
          <a:prstGeom prst="roundRect">
            <a:avLst>
              <a:gd name="adj" fmla="val 9524"/>
            </a:avLst>
          </a:prstGeom>
          <a:solidFill>
            <a:srgbClr val="FFFFFF"/>
          </a:solidFill>
          <a:ln w="12700">
            <a:solidFill>
              <a:srgbClr val="E7DAD9"/>
            </a:solidFill>
            <a:prstDash val="solid"/>
          </a:ln>
          <a:effectLst>
            <a:outerShdw blurRad="63500" dist="25400" dir="5400000" algn="bl" rotWithShape="0">
              <a:srgbClr val="000000">
                <a:alpha val="10000"/>
              </a:srgbClr>
            </a:outerShdw>
          </a:effectLst>
        </p:spPr>
      </p:sp>
      <p:sp>
        <p:nvSpPr>
          <p:cNvPr id="11" name="Text 9"/>
          <p:cNvSpPr/>
          <p:nvPr/>
        </p:nvSpPr>
        <p:spPr>
          <a:xfrm>
            <a:off x="4381805" y="2834640"/>
            <a:ext cx="1545336" cy="960120"/>
          </a:xfrm>
          <a:prstGeom prst="rect">
            <a:avLst/>
          </a:prstGeom>
          <a:noFill/>
          <a:ln/>
        </p:spPr>
        <p:txBody>
          <a:bodyPr wrap="square" rtlCol="0" anchor="ctr"/>
          <a:lstStyle/>
          <a:p>
            <a:pPr marL="0" indent="0" algn="ctr">
              <a:lnSpc>
                <a:spcPct val="110000"/>
              </a:lnSpc>
              <a:buNone/>
            </a:pPr>
            <a:r>
              <a:rPr lang="en-US" sz="1150" b="1" dirty="0">
                <a:solidFill>
                  <a:srgbClr val="2B2B2B"/>
                </a:solidFill>
                <a:latin typeface="Calibri" pitchFamily="34" charset="0"/>
                <a:ea typeface="Calibri" pitchFamily="34" charset="-122"/>
                <a:cs typeface="Calibri" pitchFamily="34" charset="-120"/>
              </a:rPr>
              <a:t>Donor / Request / Reports</a:t>
            </a:r>
            <a:endParaRPr lang="en-US" sz="1150" dirty="0"/>
          </a:p>
        </p:txBody>
      </p:sp>
      <p:sp>
        <p:nvSpPr>
          <p:cNvPr id="12" name="Text 10"/>
          <p:cNvSpPr/>
          <p:nvPr/>
        </p:nvSpPr>
        <p:spPr>
          <a:xfrm>
            <a:off x="5954573" y="2788920"/>
            <a:ext cx="279806" cy="1051560"/>
          </a:xfrm>
          <a:prstGeom prst="rect">
            <a:avLst/>
          </a:prstGeom>
          <a:noFill/>
          <a:ln/>
        </p:spPr>
        <p:txBody>
          <a:bodyPr wrap="square" rtlCol="0" anchor="ctr"/>
          <a:lstStyle/>
          <a:p>
            <a:pPr marL="0" indent="0" algn="ctr">
              <a:buNone/>
            </a:pPr>
            <a:r>
              <a:rPr lang="en-US" sz="2200" b="1" dirty="0">
                <a:solidFill>
                  <a:srgbClr val="990011"/>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6188659" y="2834640"/>
            <a:ext cx="1691640" cy="960120"/>
          </a:xfrm>
          <a:prstGeom prst="roundRect">
            <a:avLst>
              <a:gd name="adj" fmla="val 9524"/>
            </a:avLst>
          </a:prstGeom>
          <a:solidFill>
            <a:srgbClr val="990011"/>
          </a:solidFill>
          <a:ln w="12700">
            <a:solidFill>
              <a:srgbClr val="990011"/>
            </a:solidFill>
            <a:prstDash val="solid"/>
          </a:ln>
          <a:effectLst>
            <a:outerShdw blurRad="63500" dist="25400" dir="5400000" algn="bl" rotWithShape="0">
              <a:srgbClr val="000000">
                <a:alpha val="10000"/>
              </a:srgbClr>
            </a:outerShdw>
          </a:effectLst>
        </p:spPr>
      </p:sp>
      <p:sp>
        <p:nvSpPr>
          <p:cNvPr id="14" name="Text 12"/>
          <p:cNvSpPr/>
          <p:nvPr/>
        </p:nvSpPr>
        <p:spPr>
          <a:xfrm>
            <a:off x="6261811" y="2834640"/>
            <a:ext cx="1545336" cy="960120"/>
          </a:xfrm>
          <a:prstGeom prst="rect">
            <a:avLst/>
          </a:prstGeom>
          <a:noFill/>
          <a:ln/>
        </p:spPr>
        <p:txBody>
          <a:bodyPr wrap="square"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Emergency Matching</a:t>
            </a:r>
            <a:endParaRPr lang="en-US" sz="1150" dirty="0"/>
          </a:p>
        </p:txBody>
      </p:sp>
      <p:sp>
        <p:nvSpPr>
          <p:cNvPr id="15" name="Text 13"/>
          <p:cNvSpPr/>
          <p:nvPr/>
        </p:nvSpPr>
        <p:spPr>
          <a:xfrm>
            <a:off x="7834579" y="2788920"/>
            <a:ext cx="279806" cy="1051560"/>
          </a:xfrm>
          <a:prstGeom prst="rect">
            <a:avLst/>
          </a:prstGeom>
          <a:noFill/>
          <a:ln/>
        </p:spPr>
        <p:txBody>
          <a:bodyPr wrap="square" rtlCol="0" anchor="ctr"/>
          <a:lstStyle/>
          <a:p>
            <a:pPr marL="0" indent="0" algn="ctr">
              <a:buNone/>
            </a:pPr>
            <a:r>
              <a:rPr lang="en-US" sz="2200" b="1" dirty="0">
                <a:solidFill>
                  <a:srgbClr val="990011"/>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8068666" y="2834640"/>
            <a:ext cx="1691640" cy="960120"/>
          </a:xfrm>
          <a:prstGeom prst="roundRect">
            <a:avLst>
              <a:gd name="adj" fmla="val 9524"/>
            </a:avLst>
          </a:prstGeom>
          <a:solidFill>
            <a:srgbClr val="FFFFFF"/>
          </a:solidFill>
          <a:ln w="12700">
            <a:solidFill>
              <a:srgbClr val="E7DAD9"/>
            </a:solidFill>
            <a:prstDash val="solid"/>
          </a:ln>
          <a:effectLst>
            <a:outerShdw blurRad="63500" dist="25400" dir="5400000" algn="bl" rotWithShape="0">
              <a:srgbClr val="000000">
                <a:alpha val="10000"/>
              </a:srgbClr>
            </a:outerShdw>
          </a:effectLst>
        </p:spPr>
      </p:sp>
      <p:sp>
        <p:nvSpPr>
          <p:cNvPr id="17" name="Text 15"/>
          <p:cNvSpPr/>
          <p:nvPr/>
        </p:nvSpPr>
        <p:spPr>
          <a:xfrm>
            <a:off x="8141818" y="2834640"/>
            <a:ext cx="1545336" cy="960120"/>
          </a:xfrm>
          <a:prstGeom prst="rect">
            <a:avLst/>
          </a:prstGeom>
          <a:noFill/>
          <a:ln/>
        </p:spPr>
        <p:txBody>
          <a:bodyPr wrap="square" rtlCol="0" anchor="ctr"/>
          <a:lstStyle/>
          <a:p>
            <a:pPr marL="0" indent="0" algn="ctr">
              <a:lnSpc>
                <a:spcPct val="110000"/>
              </a:lnSpc>
              <a:buNone/>
            </a:pPr>
            <a:r>
              <a:rPr lang="en-US" sz="1150" b="1" dirty="0">
                <a:solidFill>
                  <a:srgbClr val="2B2B2B"/>
                </a:solidFill>
                <a:latin typeface="Calibri" pitchFamily="34" charset="0"/>
                <a:ea typeface="Calibri" pitchFamily="34" charset="-122"/>
                <a:cs typeface="Calibri" pitchFamily="34" charset="-120"/>
              </a:rPr>
              <a:t>Donation History</a:t>
            </a:r>
            <a:endParaRPr lang="en-US" sz="1150" dirty="0"/>
          </a:p>
        </p:txBody>
      </p:sp>
      <p:sp>
        <p:nvSpPr>
          <p:cNvPr id="18" name="Text 16"/>
          <p:cNvSpPr/>
          <p:nvPr/>
        </p:nvSpPr>
        <p:spPr>
          <a:xfrm>
            <a:off x="9714586" y="2788920"/>
            <a:ext cx="279806" cy="1051560"/>
          </a:xfrm>
          <a:prstGeom prst="rect">
            <a:avLst/>
          </a:prstGeom>
          <a:noFill/>
          <a:ln/>
        </p:spPr>
        <p:txBody>
          <a:bodyPr wrap="square" rtlCol="0" anchor="ctr"/>
          <a:lstStyle/>
          <a:p>
            <a:pPr marL="0" indent="0" algn="ctr">
              <a:buNone/>
            </a:pPr>
            <a:r>
              <a:rPr lang="en-US" sz="2200" b="1" dirty="0">
                <a:solidFill>
                  <a:srgbClr val="990011"/>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948672" y="2834640"/>
            <a:ext cx="1691640" cy="960120"/>
          </a:xfrm>
          <a:prstGeom prst="roundRect">
            <a:avLst>
              <a:gd name="adj" fmla="val 9524"/>
            </a:avLst>
          </a:prstGeom>
          <a:solidFill>
            <a:srgbClr val="FFFFFF"/>
          </a:solidFill>
          <a:ln w="12700">
            <a:solidFill>
              <a:srgbClr val="E7DAD9"/>
            </a:solidFill>
            <a:prstDash val="solid"/>
          </a:ln>
          <a:effectLst>
            <a:outerShdw blurRad="63500" dist="25400" dir="5400000" algn="bl" rotWithShape="0">
              <a:srgbClr val="000000">
                <a:alpha val="10000"/>
              </a:srgbClr>
            </a:outerShdw>
          </a:effectLst>
        </p:spPr>
      </p:sp>
      <p:sp>
        <p:nvSpPr>
          <p:cNvPr id="20" name="Text 18"/>
          <p:cNvSpPr/>
          <p:nvPr/>
        </p:nvSpPr>
        <p:spPr>
          <a:xfrm>
            <a:off x="10021824" y="2834640"/>
            <a:ext cx="1545336" cy="960120"/>
          </a:xfrm>
          <a:prstGeom prst="rect">
            <a:avLst/>
          </a:prstGeom>
          <a:noFill/>
          <a:ln/>
        </p:spPr>
        <p:txBody>
          <a:bodyPr wrap="square" rtlCol="0" anchor="ctr"/>
          <a:lstStyle/>
          <a:p>
            <a:pPr marL="0" indent="0" algn="ctr">
              <a:lnSpc>
                <a:spcPct val="110000"/>
              </a:lnSpc>
              <a:buNone/>
            </a:pPr>
            <a:r>
              <a:rPr lang="en-US" sz="1150" b="1" dirty="0">
                <a:solidFill>
                  <a:srgbClr val="2B2B2B"/>
                </a:solidFill>
                <a:latin typeface="Calibri" pitchFamily="34" charset="0"/>
                <a:ea typeface="Calibri" pitchFamily="34" charset="-122"/>
                <a:cs typeface="Calibri" pitchFamily="34" charset="-120"/>
              </a:rPr>
              <a:t>Save &amp; Exit</a:t>
            </a:r>
            <a:endParaRPr lang="en-US" sz="1150" dirty="0"/>
          </a:p>
        </p:txBody>
      </p:sp>
      <p:sp>
        <p:nvSpPr>
          <p:cNvPr id="21" name="Text 19"/>
          <p:cNvSpPr/>
          <p:nvPr/>
        </p:nvSpPr>
        <p:spPr>
          <a:xfrm>
            <a:off x="548640" y="4206240"/>
            <a:ext cx="11064240" cy="457200"/>
          </a:xfrm>
          <a:prstGeom prst="rect">
            <a:avLst/>
          </a:prstGeom>
          <a:noFill/>
          <a:ln/>
        </p:spPr>
        <p:txBody>
          <a:bodyPr wrap="square" rtlCol="0" anchor="ctr"/>
          <a:lstStyle/>
          <a:p>
            <a:pPr marL="0" indent="0" algn="ctr">
              <a:buNone/>
            </a:pPr>
            <a:r>
              <a:rPr lang="en-US" sz="1350" i="1" dirty="0">
                <a:solidFill>
                  <a:srgbClr val="6B6B6B"/>
                </a:solidFill>
                <a:latin typeface="Calibri" pitchFamily="34" charset="0"/>
                <a:ea typeface="Calibri" pitchFamily="34" charset="-122"/>
                <a:cs typeface="Calibri" pitchFamily="34" charset="-120"/>
              </a:rPr>
              <a:t>Emergency requests jump the queue — a priority_queue guarantees the most critical case is served first.</a:t>
            </a:r>
            <a:endParaRPr lang="en-US" sz="1350" dirty="0"/>
          </a:p>
        </p:txBody>
      </p:sp>
      <p:sp>
        <p:nvSpPr>
          <p:cNvPr id="22" name="Shape 20"/>
          <p:cNvSpPr/>
          <p:nvPr/>
        </p:nvSpPr>
        <p:spPr>
          <a:xfrm>
            <a:off x="2011680" y="4937760"/>
            <a:ext cx="8165592" cy="1188720"/>
          </a:xfrm>
          <a:prstGeom prst="roundRect">
            <a:avLst>
              <a:gd name="adj" fmla="val 7692"/>
            </a:avLst>
          </a:prstGeom>
          <a:solidFill>
            <a:srgbClr val="FCF6F5"/>
          </a:solidFill>
          <a:ln w="12700">
            <a:solidFill>
              <a:srgbClr val="E7DAD9"/>
            </a:solidFill>
            <a:prstDash val="solid"/>
          </a:ln>
        </p:spPr>
      </p:sp>
      <p:sp>
        <p:nvSpPr>
          <p:cNvPr id="23" name="Text 21"/>
          <p:cNvSpPr/>
          <p:nvPr/>
        </p:nvSpPr>
        <p:spPr>
          <a:xfrm>
            <a:off x="2286000" y="4937760"/>
            <a:ext cx="7635240" cy="1188720"/>
          </a:xfrm>
          <a:prstGeom prst="rect">
            <a:avLst/>
          </a:prstGeom>
          <a:noFill/>
          <a:ln/>
        </p:spPr>
        <p:txBody>
          <a:bodyPr wrap="square" rtlCol="0" anchor="ctr"/>
          <a:lstStyle/>
          <a:p>
            <a:pPr marL="0" indent="0" algn="ctr">
              <a:lnSpc>
                <a:spcPct val="130000"/>
              </a:lnSpc>
              <a:buNone/>
            </a:pPr>
            <a:r>
              <a:rPr lang="en-US" sz="1300" b="1" dirty="0">
                <a:solidFill>
                  <a:srgbClr val="990011"/>
                </a:solidFill>
                <a:latin typeface="Calibri" pitchFamily="34" charset="0"/>
                <a:ea typeface="Calibri" pitchFamily="34" charset="-122"/>
                <a:cs typeface="Calibri" pitchFamily="34" charset="-120"/>
              </a:rPr>
              <a:t>OOP classes: </a:t>
            </a:r>
            <a:r>
              <a:rPr lang="en-US" sz="1300" dirty="0">
                <a:solidFill>
                  <a:srgbClr val="2B2B2B"/>
                </a:solidFill>
                <a:latin typeface="Calibri" pitchFamily="34" charset="0"/>
                <a:ea typeface="Calibri" pitchFamily="34" charset="-122"/>
                <a:cs typeface="Calibri" pitchFamily="34" charset="-120"/>
              </a:rPr>
              <a:t>Donor · BloodRequest · DonationRecord · DonorManager · RequestManager · FileManager</a:t>
            </a:r>
            <a:endParaRPr lang="en-US" sz="1300" dirty="0"/>
          </a:p>
        </p:txBody>
      </p:sp>
      <p:sp>
        <p:nvSpPr>
          <p:cNvPr id="24" name="Text 22"/>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25" name="Text 2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4 · SCREENSHOTS</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Donor Registration &amp; Directory</a:t>
            </a:r>
            <a:endParaRPr lang="en-US" sz="3000" dirty="0"/>
          </a:p>
        </p:txBody>
      </p:sp>
      <p:sp>
        <p:nvSpPr>
          <p:cNvPr id="4" name="Shape 2"/>
          <p:cNvSpPr/>
          <p:nvPr/>
        </p:nvSpPr>
        <p:spPr>
          <a:xfrm>
            <a:off x="548640" y="1783080"/>
            <a:ext cx="11091672" cy="4160520"/>
          </a:xfrm>
          <a:prstGeom prst="roundRect">
            <a:avLst>
              <a:gd name="adj" fmla="val 1758"/>
            </a:avLst>
          </a:prstGeom>
          <a:solidFill>
            <a:srgbClr val="FFFFFF"/>
          </a:solidFill>
          <a:ln w="12700">
            <a:solidFill>
              <a:srgbClr val="E7DAD9"/>
            </a:solidFill>
            <a:prstDash val="solid"/>
          </a:ln>
          <a:effectLst>
            <a:outerShdw blurRad="101600" dist="38100" dir="5400000" algn="bl" rotWithShape="0">
              <a:srgbClr val="000000">
                <a:alpha val="12000"/>
              </a:srgbClr>
            </a:outerShdw>
          </a:effectLst>
        </p:spPr>
      </p:sp>
      <p:sp>
        <p:nvSpPr>
          <p:cNvPr id="5" name="Text 3"/>
          <p:cNvSpPr/>
          <p:nvPr/>
        </p:nvSpPr>
        <p:spPr>
          <a:xfrm>
            <a:off x="685800" y="1874520"/>
            <a:ext cx="10817352" cy="365760"/>
          </a:xfrm>
          <a:prstGeom prst="rect">
            <a:avLst/>
          </a:prstGeom>
          <a:noFill/>
          <a:ln/>
        </p:spPr>
        <p:txBody>
          <a:bodyPr wrap="square"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Donor Management</a:t>
            </a:r>
            <a:endParaRPr lang="en-US" sz="1400" dirty="0"/>
          </a:p>
        </p:txBody>
      </p:sp>
      <p:pic>
        <p:nvPicPr>
          <p:cNvPr id="6" name="Image 0" descr="/home/claude/ppt/src/word/media/image4.png"/>
          <p:cNvPicPr>
            <a:picLocks noChangeAspect="1"/>
          </p:cNvPicPr>
          <p:nvPr/>
        </p:nvPicPr>
        <p:blipFill>
          <a:blip r:embed="rId3"/>
          <a:srcRect l="-58011" r="-58011"/>
          <a:stretch/>
        </p:blipFill>
        <p:spPr>
          <a:xfrm>
            <a:off x="685800" y="2286000"/>
            <a:ext cx="10817352" cy="3246120"/>
          </a:xfrm>
          <a:prstGeom prst="rect">
            <a:avLst/>
          </a:prstGeom>
        </p:spPr>
      </p:pic>
      <p:sp>
        <p:nvSpPr>
          <p:cNvPr id="7" name="Text 4"/>
          <p:cNvSpPr/>
          <p:nvPr/>
        </p:nvSpPr>
        <p:spPr>
          <a:xfrm>
            <a:off x="685800" y="5212080"/>
            <a:ext cx="10817352" cy="685800"/>
          </a:xfrm>
          <a:prstGeom prst="rect">
            <a:avLst/>
          </a:prstGeom>
          <a:noFill/>
          <a:ln/>
        </p:spPr>
        <p:txBody>
          <a:bodyPr wrap="square" rtlCol="0" anchor="ctr"/>
          <a:lstStyle/>
          <a:p>
            <a:pPr marL="0" indent="0">
              <a:lnSpc>
                <a:spcPct val="120000"/>
              </a:lnSpc>
              <a:buNone/>
            </a:pPr>
            <a:r>
              <a:rPr lang="en-US" sz="1050" dirty="0">
                <a:solidFill>
                  <a:srgbClr val="6B6B6B"/>
                </a:solidFill>
                <a:latin typeface="Calibri" pitchFamily="34" charset="0"/>
                <a:ea typeface="Calibri" pitchFamily="34" charset="-122"/>
                <a:cs typeface="Calibri" pitchFamily="34" charset="-120"/>
              </a:rPr>
              <a:t>Register a donor, view all records and search instantly by blood group via the unordered_map index.</a:t>
            </a:r>
            <a:endParaRPr lang="en-US" sz="1050" dirty="0"/>
          </a:p>
        </p:txBody>
      </p:sp>
      <p:sp>
        <p:nvSpPr>
          <p:cNvPr id="8" name="Text 5"/>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9" name="Text 6"/>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4 · SCREENSHOTS</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Requests &amp; Emergency Matching</a:t>
            </a:r>
            <a:endParaRPr lang="en-US" sz="3000" dirty="0"/>
          </a:p>
        </p:txBody>
      </p:sp>
      <p:sp>
        <p:nvSpPr>
          <p:cNvPr id="4" name="Shape 2"/>
          <p:cNvSpPr/>
          <p:nvPr/>
        </p:nvSpPr>
        <p:spPr>
          <a:xfrm>
            <a:off x="548640" y="1783080"/>
            <a:ext cx="5408676" cy="4160520"/>
          </a:xfrm>
          <a:prstGeom prst="roundRect">
            <a:avLst>
              <a:gd name="adj" fmla="val 1758"/>
            </a:avLst>
          </a:prstGeom>
          <a:solidFill>
            <a:srgbClr val="FFFFFF"/>
          </a:solidFill>
          <a:ln w="12700">
            <a:solidFill>
              <a:srgbClr val="E7DAD9"/>
            </a:solidFill>
            <a:prstDash val="solid"/>
          </a:ln>
          <a:effectLst>
            <a:outerShdw blurRad="101600" dist="38100" dir="5400000" algn="bl" rotWithShape="0">
              <a:srgbClr val="000000">
                <a:alpha val="12000"/>
              </a:srgbClr>
            </a:outerShdw>
          </a:effectLst>
        </p:spPr>
      </p:sp>
      <p:sp>
        <p:nvSpPr>
          <p:cNvPr id="5" name="Text 3"/>
          <p:cNvSpPr/>
          <p:nvPr/>
        </p:nvSpPr>
        <p:spPr>
          <a:xfrm>
            <a:off x="685800" y="1874520"/>
            <a:ext cx="5134356" cy="365760"/>
          </a:xfrm>
          <a:prstGeom prst="rect">
            <a:avLst/>
          </a:prstGeom>
          <a:noFill/>
          <a:ln/>
        </p:spPr>
        <p:txBody>
          <a:bodyPr wrap="square"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Blood Request</a:t>
            </a:r>
            <a:endParaRPr lang="en-US" sz="1400" dirty="0"/>
          </a:p>
        </p:txBody>
      </p:sp>
      <p:pic>
        <p:nvPicPr>
          <p:cNvPr id="6" name="Image 0" descr="/home/claude/ppt/src/word/media/image5.png"/>
          <p:cNvPicPr>
            <a:picLocks noChangeAspect="1"/>
          </p:cNvPicPr>
          <p:nvPr/>
        </p:nvPicPr>
        <p:blipFill>
          <a:blip r:embed="rId3"/>
          <a:srcRect t="-9504" b="-9504"/>
          <a:stretch/>
        </p:blipFill>
        <p:spPr>
          <a:xfrm>
            <a:off x="685800" y="2286000"/>
            <a:ext cx="5134356" cy="3246120"/>
          </a:xfrm>
          <a:prstGeom prst="rect">
            <a:avLst/>
          </a:prstGeom>
        </p:spPr>
      </p:pic>
      <p:sp>
        <p:nvSpPr>
          <p:cNvPr id="7" name="Text 4"/>
          <p:cNvSpPr/>
          <p:nvPr/>
        </p:nvSpPr>
        <p:spPr>
          <a:xfrm>
            <a:off x="685800" y="5212080"/>
            <a:ext cx="5134356" cy="685800"/>
          </a:xfrm>
          <a:prstGeom prst="rect">
            <a:avLst/>
          </a:prstGeom>
          <a:noFill/>
          <a:ln/>
        </p:spPr>
        <p:txBody>
          <a:bodyPr wrap="square" rtlCol="0" anchor="ctr"/>
          <a:lstStyle/>
          <a:p>
            <a:pPr marL="0" indent="0">
              <a:lnSpc>
                <a:spcPct val="120000"/>
              </a:lnSpc>
              <a:buNone/>
            </a:pPr>
            <a:r>
              <a:rPr lang="en-US" sz="1050" dirty="0">
                <a:solidFill>
                  <a:srgbClr val="6B6B6B"/>
                </a:solidFill>
                <a:latin typeface="Calibri" pitchFamily="34" charset="0"/>
                <a:ea typeface="Calibri" pitchFamily="34" charset="-122"/>
                <a:cs typeface="Calibri" pitchFamily="34" charset="-120"/>
              </a:rPr>
              <a:t>New requests are queued and shown in priority order — CRITICAL cases first.</a:t>
            </a:r>
            <a:endParaRPr lang="en-US" sz="1050" dirty="0"/>
          </a:p>
        </p:txBody>
      </p:sp>
      <p:sp>
        <p:nvSpPr>
          <p:cNvPr id="8" name="Shape 5"/>
          <p:cNvSpPr/>
          <p:nvPr/>
        </p:nvSpPr>
        <p:spPr>
          <a:xfrm>
            <a:off x="6231636" y="1783080"/>
            <a:ext cx="5408676" cy="4160520"/>
          </a:xfrm>
          <a:prstGeom prst="roundRect">
            <a:avLst>
              <a:gd name="adj" fmla="val 1758"/>
            </a:avLst>
          </a:prstGeom>
          <a:solidFill>
            <a:srgbClr val="FFFFFF"/>
          </a:solidFill>
          <a:ln w="12700">
            <a:solidFill>
              <a:srgbClr val="E7DAD9"/>
            </a:solidFill>
            <a:prstDash val="solid"/>
          </a:ln>
          <a:effectLst>
            <a:outerShdw blurRad="101600" dist="38100" dir="5400000" algn="bl" rotWithShape="0">
              <a:srgbClr val="000000">
                <a:alpha val="12000"/>
              </a:srgbClr>
            </a:outerShdw>
          </a:effectLst>
        </p:spPr>
      </p:sp>
      <p:sp>
        <p:nvSpPr>
          <p:cNvPr id="9" name="Text 6"/>
          <p:cNvSpPr/>
          <p:nvPr/>
        </p:nvSpPr>
        <p:spPr>
          <a:xfrm>
            <a:off x="6368796" y="1874520"/>
            <a:ext cx="5134356" cy="365760"/>
          </a:xfrm>
          <a:prstGeom prst="rect">
            <a:avLst/>
          </a:prstGeom>
          <a:noFill/>
          <a:ln/>
        </p:spPr>
        <p:txBody>
          <a:bodyPr wrap="square"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Emergency Matching</a:t>
            </a:r>
            <a:endParaRPr lang="en-US" sz="1400" dirty="0"/>
          </a:p>
        </p:txBody>
      </p:sp>
      <p:pic>
        <p:nvPicPr>
          <p:cNvPr id="10" name="Image 1" descr="/home/claude/ppt/src/word/media/image6.png"/>
          <p:cNvPicPr>
            <a:picLocks noChangeAspect="1"/>
          </p:cNvPicPr>
          <p:nvPr/>
        </p:nvPicPr>
        <p:blipFill>
          <a:blip r:embed="rId4"/>
          <a:srcRect t="-72398" b="-72398"/>
          <a:stretch/>
        </p:blipFill>
        <p:spPr>
          <a:xfrm>
            <a:off x="6368796" y="2286000"/>
            <a:ext cx="5134356" cy="3246120"/>
          </a:xfrm>
          <a:prstGeom prst="rect">
            <a:avLst/>
          </a:prstGeom>
        </p:spPr>
      </p:pic>
      <p:sp>
        <p:nvSpPr>
          <p:cNvPr id="11" name="Text 7"/>
          <p:cNvSpPr/>
          <p:nvPr/>
        </p:nvSpPr>
        <p:spPr>
          <a:xfrm>
            <a:off x="6368796" y="5212080"/>
            <a:ext cx="5134356" cy="685800"/>
          </a:xfrm>
          <a:prstGeom prst="rect">
            <a:avLst/>
          </a:prstGeom>
          <a:noFill/>
          <a:ln/>
        </p:spPr>
        <p:txBody>
          <a:bodyPr wrap="square" rtlCol="0" anchor="ctr"/>
          <a:lstStyle/>
          <a:p>
            <a:pPr marL="0" indent="0">
              <a:lnSpc>
                <a:spcPct val="120000"/>
              </a:lnSpc>
              <a:buNone/>
            </a:pPr>
            <a:r>
              <a:rPr lang="en-US" sz="1050" dirty="0">
                <a:solidFill>
                  <a:srgbClr val="6B6B6B"/>
                </a:solidFill>
                <a:latin typeface="Calibri" pitchFamily="34" charset="0"/>
                <a:ea typeface="Calibri" pitchFamily="34" charset="-122"/>
                <a:cs typeface="Calibri" pitchFamily="34" charset="-120"/>
              </a:rPr>
              <a:t>Finds &amp; assigns the first available donor for the chosen blood group instantly.</a:t>
            </a:r>
            <a:endParaRPr lang="en-US" sz="1050" dirty="0"/>
          </a:p>
        </p:txBody>
      </p:sp>
      <p:sp>
        <p:nvSpPr>
          <p:cNvPr id="12" name="Text 8"/>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13" name="Text 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4 · SCREENSHOTS</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History &amp; Live Reports</a:t>
            </a:r>
            <a:endParaRPr lang="en-US" sz="3000" dirty="0"/>
          </a:p>
        </p:txBody>
      </p:sp>
      <p:sp>
        <p:nvSpPr>
          <p:cNvPr id="4" name="Shape 2"/>
          <p:cNvSpPr/>
          <p:nvPr/>
        </p:nvSpPr>
        <p:spPr>
          <a:xfrm>
            <a:off x="548640" y="1783080"/>
            <a:ext cx="5408676" cy="4160520"/>
          </a:xfrm>
          <a:prstGeom prst="roundRect">
            <a:avLst>
              <a:gd name="adj" fmla="val 1758"/>
            </a:avLst>
          </a:prstGeom>
          <a:solidFill>
            <a:srgbClr val="FFFFFF"/>
          </a:solidFill>
          <a:ln w="12700">
            <a:solidFill>
              <a:srgbClr val="E7DAD9"/>
            </a:solidFill>
            <a:prstDash val="solid"/>
          </a:ln>
          <a:effectLst>
            <a:outerShdw blurRad="101600" dist="38100" dir="5400000" algn="bl" rotWithShape="0">
              <a:srgbClr val="000000">
                <a:alpha val="12000"/>
              </a:srgbClr>
            </a:outerShdw>
          </a:effectLst>
        </p:spPr>
      </p:sp>
      <p:sp>
        <p:nvSpPr>
          <p:cNvPr id="5" name="Text 3"/>
          <p:cNvSpPr/>
          <p:nvPr/>
        </p:nvSpPr>
        <p:spPr>
          <a:xfrm>
            <a:off x="685800" y="1874520"/>
            <a:ext cx="5134356" cy="365760"/>
          </a:xfrm>
          <a:prstGeom prst="rect">
            <a:avLst/>
          </a:prstGeom>
          <a:noFill/>
          <a:ln/>
        </p:spPr>
        <p:txBody>
          <a:bodyPr wrap="square"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Donation History</a:t>
            </a:r>
            <a:endParaRPr lang="en-US" sz="1400" dirty="0"/>
          </a:p>
        </p:txBody>
      </p:sp>
      <p:pic>
        <p:nvPicPr>
          <p:cNvPr id="6" name="Image 0" descr="/home/claude/ppt/src/word/media/image7.png"/>
          <p:cNvPicPr>
            <a:picLocks noChangeAspect="1"/>
          </p:cNvPicPr>
          <p:nvPr/>
        </p:nvPicPr>
        <p:blipFill>
          <a:blip r:embed="rId3"/>
          <a:srcRect t="-97887" b="-97887"/>
          <a:stretch/>
        </p:blipFill>
        <p:spPr>
          <a:xfrm>
            <a:off x="685800" y="2286000"/>
            <a:ext cx="5134356" cy="3246120"/>
          </a:xfrm>
          <a:prstGeom prst="rect">
            <a:avLst/>
          </a:prstGeom>
        </p:spPr>
      </p:pic>
      <p:sp>
        <p:nvSpPr>
          <p:cNvPr id="7" name="Text 4"/>
          <p:cNvSpPr/>
          <p:nvPr/>
        </p:nvSpPr>
        <p:spPr>
          <a:xfrm>
            <a:off x="685800" y="5212080"/>
            <a:ext cx="5134356" cy="685800"/>
          </a:xfrm>
          <a:prstGeom prst="rect">
            <a:avLst/>
          </a:prstGeom>
          <a:noFill/>
          <a:ln/>
        </p:spPr>
        <p:txBody>
          <a:bodyPr wrap="square" rtlCol="0" anchor="ctr"/>
          <a:lstStyle/>
          <a:p>
            <a:pPr marL="0" indent="0">
              <a:lnSpc>
                <a:spcPct val="120000"/>
              </a:lnSpc>
              <a:buNone/>
            </a:pPr>
            <a:r>
              <a:rPr lang="en-US" sz="1050" dirty="0">
                <a:solidFill>
                  <a:srgbClr val="6B6B6B"/>
                </a:solidFill>
                <a:latin typeface="Calibri" pitchFamily="34" charset="0"/>
                <a:ea typeface="Calibri" pitchFamily="34" charset="-122"/>
                <a:cs typeface="Calibri" pitchFamily="34" charset="-120"/>
              </a:rPr>
              <a:t>Chronological log of completed donations, maintained using a list.</a:t>
            </a:r>
            <a:endParaRPr lang="en-US" sz="1050" dirty="0"/>
          </a:p>
        </p:txBody>
      </p:sp>
      <p:sp>
        <p:nvSpPr>
          <p:cNvPr id="8" name="Shape 5"/>
          <p:cNvSpPr/>
          <p:nvPr/>
        </p:nvSpPr>
        <p:spPr>
          <a:xfrm>
            <a:off x="6231636" y="1783080"/>
            <a:ext cx="5408676" cy="4160520"/>
          </a:xfrm>
          <a:prstGeom prst="roundRect">
            <a:avLst>
              <a:gd name="adj" fmla="val 1758"/>
            </a:avLst>
          </a:prstGeom>
          <a:solidFill>
            <a:srgbClr val="FFFFFF"/>
          </a:solidFill>
          <a:ln w="12700">
            <a:solidFill>
              <a:srgbClr val="E7DAD9"/>
            </a:solidFill>
            <a:prstDash val="solid"/>
          </a:ln>
          <a:effectLst>
            <a:outerShdw blurRad="101600" dist="38100" dir="5400000" algn="bl" rotWithShape="0">
              <a:srgbClr val="000000">
                <a:alpha val="12000"/>
              </a:srgbClr>
            </a:outerShdw>
          </a:effectLst>
        </p:spPr>
      </p:sp>
      <p:sp>
        <p:nvSpPr>
          <p:cNvPr id="9" name="Text 6"/>
          <p:cNvSpPr/>
          <p:nvPr/>
        </p:nvSpPr>
        <p:spPr>
          <a:xfrm>
            <a:off x="6368796" y="1874520"/>
            <a:ext cx="5134356" cy="365760"/>
          </a:xfrm>
          <a:prstGeom prst="rect">
            <a:avLst/>
          </a:prstGeom>
          <a:noFill/>
          <a:ln/>
        </p:spPr>
        <p:txBody>
          <a:bodyPr wrap="square" rtlCol="0" anchor="ctr"/>
          <a:lstStyle/>
          <a:p>
            <a:pPr marL="0" indent="0">
              <a:buNone/>
            </a:pPr>
            <a:r>
              <a:rPr lang="en-US" sz="1400" b="1" dirty="0">
                <a:solidFill>
                  <a:srgbClr val="990011"/>
                </a:solidFill>
                <a:latin typeface="Cambria" pitchFamily="34" charset="0"/>
                <a:ea typeface="Cambria" pitchFamily="34" charset="-122"/>
                <a:cs typeface="Cambria" pitchFamily="34" charset="-120"/>
              </a:rPr>
              <a:t>Reports</a:t>
            </a:r>
            <a:endParaRPr lang="en-US" sz="1400" dirty="0"/>
          </a:p>
        </p:txBody>
      </p:sp>
      <p:pic>
        <p:nvPicPr>
          <p:cNvPr id="10" name="Image 1" descr="/home/claude/ppt/src/word/media/image8.png"/>
          <p:cNvPicPr>
            <a:picLocks noChangeAspect="1"/>
          </p:cNvPicPr>
          <p:nvPr/>
        </p:nvPicPr>
        <p:blipFill>
          <a:blip r:embed="rId4"/>
          <a:srcRect t="-12760" b="-12760"/>
          <a:stretch/>
        </p:blipFill>
        <p:spPr>
          <a:xfrm>
            <a:off x="6368796" y="2286000"/>
            <a:ext cx="5134356" cy="3246120"/>
          </a:xfrm>
          <a:prstGeom prst="rect">
            <a:avLst/>
          </a:prstGeom>
        </p:spPr>
      </p:pic>
      <p:sp>
        <p:nvSpPr>
          <p:cNvPr id="11" name="Text 7"/>
          <p:cNvSpPr/>
          <p:nvPr/>
        </p:nvSpPr>
        <p:spPr>
          <a:xfrm>
            <a:off x="6368796" y="5212080"/>
            <a:ext cx="5134356" cy="685800"/>
          </a:xfrm>
          <a:prstGeom prst="rect">
            <a:avLst/>
          </a:prstGeom>
          <a:noFill/>
          <a:ln/>
        </p:spPr>
        <p:txBody>
          <a:bodyPr wrap="square" rtlCol="0" anchor="ctr"/>
          <a:lstStyle/>
          <a:p>
            <a:pPr marL="0" indent="0">
              <a:lnSpc>
                <a:spcPct val="120000"/>
              </a:lnSpc>
              <a:buNone/>
            </a:pPr>
            <a:r>
              <a:rPr lang="en-US" sz="1050" dirty="0">
                <a:solidFill>
                  <a:srgbClr val="6B6B6B"/>
                </a:solidFill>
                <a:latin typeface="Calibri" pitchFamily="34" charset="0"/>
                <a:ea typeface="Calibri" pitchFamily="34" charset="-122"/>
                <a:cs typeface="Calibri" pitchFamily="34" charset="-120"/>
              </a:rPr>
              <a:t>Live totals: donors, availability, pending requests and blood-group-wise counts.</a:t>
            </a:r>
            <a:endParaRPr lang="en-US" sz="1050" dirty="0"/>
          </a:p>
        </p:txBody>
      </p:sp>
      <p:sp>
        <p:nvSpPr>
          <p:cNvPr id="12" name="Text 8"/>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13" name="Text 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CHAPTER 5 · FUTURE SCOPE</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Where This Project Can Go Next</a:t>
            </a:r>
            <a:endParaRPr lang="en-US" sz="3000" dirty="0"/>
          </a:p>
        </p:txBody>
      </p:sp>
      <p:sp>
        <p:nvSpPr>
          <p:cNvPr id="4" name="Shape 2"/>
          <p:cNvSpPr/>
          <p:nvPr/>
        </p:nvSpPr>
        <p:spPr>
          <a:xfrm>
            <a:off x="548640" y="1783080"/>
            <a:ext cx="3566160" cy="1874520"/>
          </a:xfrm>
          <a:prstGeom prst="roundRect">
            <a:avLst>
              <a:gd name="adj" fmla="val 4878"/>
            </a:avLst>
          </a:prstGeom>
          <a:solidFill>
            <a:srgbClr val="FFFFFF"/>
          </a:solidFill>
          <a:ln w="12700">
            <a:solidFill>
              <a:srgbClr val="E7DAD9"/>
            </a:solidFill>
            <a:prstDash val="solid"/>
          </a:ln>
        </p:spPr>
      </p:sp>
      <p:sp>
        <p:nvSpPr>
          <p:cNvPr id="5" name="Shape 3"/>
          <p:cNvSpPr/>
          <p:nvPr/>
        </p:nvSpPr>
        <p:spPr>
          <a:xfrm>
            <a:off x="777240" y="1984248"/>
            <a:ext cx="457200" cy="457200"/>
          </a:xfrm>
          <a:prstGeom prst="roundRect">
            <a:avLst>
              <a:gd name="adj" fmla="val 50000"/>
            </a:avLst>
          </a:prstGeom>
          <a:solidFill>
            <a:srgbClr val="2F3C7E"/>
          </a:solidFill>
          <a:ln/>
        </p:spPr>
      </p:sp>
      <p:sp>
        <p:nvSpPr>
          <p:cNvPr id="6" name="Text 4"/>
          <p:cNvSpPr/>
          <p:nvPr/>
        </p:nvSpPr>
        <p:spPr>
          <a:xfrm>
            <a:off x="777240" y="198424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71600" y="1947672"/>
            <a:ext cx="2560320" cy="502920"/>
          </a:xfrm>
          <a:prstGeom prst="rect">
            <a:avLst/>
          </a:prstGeom>
          <a:noFill/>
          <a:ln/>
        </p:spPr>
        <p:txBody>
          <a:bodyPr wrap="square" rtlCol="0" anchor="ctr"/>
          <a:lstStyle/>
          <a:p>
            <a:pPr marL="0" indent="0">
              <a:buNone/>
            </a:pPr>
            <a:r>
              <a:rPr lang="en-US" sz="1400" b="1" dirty="0">
                <a:solidFill>
                  <a:srgbClr val="2B2B2B"/>
                </a:solidFill>
                <a:latin typeface="Cambria" pitchFamily="34" charset="0"/>
                <a:ea typeface="Cambria" pitchFamily="34" charset="-122"/>
                <a:cs typeface="Cambria" pitchFamily="34" charset="-120"/>
              </a:rPr>
              <a:t>Graphical Interface</a:t>
            </a:r>
            <a:endParaRPr lang="en-US" sz="1400" dirty="0"/>
          </a:p>
        </p:txBody>
      </p:sp>
      <p:sp>
        <p:nvSpPr>
          <p:cNvPr id="8" name="Text 6"/>
          <p:cNvSpPr/>
          <p:nvPr/>
        </p:nvSpPr>
        <p:spPr>
          <a:xfrm>
            <a:off x="777240" y="2560320"/>
            <a:ext cx="3108960" cy="100584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Move from console to a Qt / desktop UI</a:t>
            </a:r>
            <a:endParaRPr lang="en-US" sz="1150" dirty="0"/>
          </a:p>
        </p:txBody>
      </p:sp>
      <p:sp>
        <p:nvSpPr>
          <p:cNvPr id="9" name="Shape 7"/>
          <p:cNvSpPr/>
          <p:nvPr/>
        </p:nvSpPr>
        <p:spPr>
          <a:xfrm>
            <a:off x="4343400" y="1783080"/>
            <a:ext cx="3566160" cy="1874520"/>
          </a:xfrm>
          <a:prstGeom prst="roundRect">
            <a:avLst>
              <a:gd name="adj" fmla="val 4878"/>
            </a:avLst>
          </a:prstGeom>
          <a:solidFill>
            <a:srgbClr val="FFFFFF"/>
          </a:solidFill>
          <a:ln w="12700">
            <a:solidFill>
              <a:srgbClr val="E7DAD9"/>
            </a:solidFill>
            <a:prstDash val="solid"/>
          </a:ln>
        </p:spPr>
      </p:sp>
      <p:sp>
        <p:nvSpPr>
          <p:cNvPr id="10" name="Shape 8"/>
          <p:cNvSpPr/>
          <p:nvPr/>
        </p:nvSpPr>
        <p:spPr>
          <a:xfrm>
            <a:off x="4572000" y="1984248"/>
            <a:ext cx="457200" cy="457200"/>
          </a:xfrm>
          <a:prstGeom prst="roundRect">
            <a:avLst>
              <a:gd name="adj" fmla="val 50000"/>
            </a:avLst>
          </a:prstGeom>
          <a:solidFill>
            <a:srgbClr val="2F3C7E"/>
          </a:solidFill>
          <a:ln/>
        </p:spPr>
      </p:sp>
      <p:sp>
        <p:nvSpPr>
          <p:cNvPr id="11" name="Text 9"/>
          <p:cNvSpPr/>
          <p:nvPr/>
        </p:nvSpPr>
        <p:spPr>
          <a:xfrm>
            <a:off x="4572000" y="198424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5166360" y="1947672"/>
            <a:ext cx="2560320" cy="502920"/>
          </a:xfrm>
          <a:prstGeom prst="rect">
            <a:avLst/>
          </a:prstGeom>
          <a:noFill/>
          <a:ln/>
        </p:spPr>
        <p:txBody>
          <a:bodyPr wrap="square" rtlCol="0" anchor="ctr"/>
          <a:lstStyle/>
          <a:p>
            <a:pPr marL="0" indent="0">
              <a:buNone/>
            </a:pPr>
            <a:r>
              <a:rPr lang="en-US" sz="1400" b="1" dirty="0">
                <a:solidFill>
                  <a:srgbClr val="2B2B2B"/>
                </a:solidFill>
                <a:latin typeface="Cambria" pitchFamily="34" charset="0"/>
                <a:ea typeface="Cambria" pitchFamily="34" charset="-122"/>
                <a:cs typeface="Cambria" pitchFamily="34" charset="-120"/>
              </a:rPr>
              <a:t>Database Integration</a:t>
            </a:r>
            <a:endParaRPr lang="en-US" sz="1400" dirty="0"/>
          </a:p>
        </p:txBody>
      </p:sp>
      <p:sp>
        <p:nvSpPr>
          <p:cNvPr id="13" name="Text 11"/>
          <p:cNvSpPr/>
          <p:nvPr/>
        </p:nvSpPr>
        <p:spPr>
          <a:xfrm>
            <a:off x="4572000" y="2560320"/>
            <a:ext cx="3108960" cy="100584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Replace flat files with MySQL / SQLite</a:t>
            </a:r>
            <a:endParaRPr lang="en-US" sz="1150" dirty="0"/>
          </a:p>
        </p:txBody>
      </p:sp>
      <p:sp>
        <p:nvSpPr>
          <p:cNvPr id="14" name="Shape 12"/>
          <p:cNvSpPr/>
          <p:nvPr/>
        </p:nvSpPr>
        <p:spPr>
          <a:xfrm>
            <a:off x="8138160" y="1783080"/>
            <a:ext cx="3566160" cy="1874520"/>
          </a:xfrm>
          <a:prstGeom prst="roundRect">
            <a:avLst>
              <a:gd name="adj" fmla="val 4878"/>
            </a:avLst>
          </a:prstGeom>
          <a:solidFill>
            <a:srgbClr val="FFFFFF"/>
          </a:solidFill>
          <a:ln w="12700">
            <a:solidFill>
              <a:srgbClr val="E7DAD9"/>
            </a:solidFill>
            <a:prstDash val="solid"/>
          </a:ln>
        </p:spPr>
      </p:sp>
      <p:sp>
        <p:nvSpPr>
          <p:cNvPr id="15" name="Shape 13"/>
          <p:cNvSpPr/>
          <p:nvPr/>
        </p:nvSpPr>
        <p:spPr>
          <a:xfrm>
            <a:off x="8366760" y="1984248"/>
            <a:ext cx="457200" cy="457200"/>
          </a:xfrm>
          <a:prstGeom prst="roundRect">
            <a:avLst>
              <a:gd name="adj" fmla="val 50000"/>
            </a:avLst>
          </a:prstGeom>
          <a:solidFill>
            <a:srgbClr val="2F3C7E"/>
          </a:solidFill>
          <a:ln/>
        </p:spPr>
      </p:sp>
      <p:sp>
        <p:nvSpPr>
          <p:cNvPr id="16" name="Text 14"/>
          <p:cNvSpPr/>
          <p:nvPr/>
        </p:nvSpPr>
        <p:spPr>
          <a:xfrm>
            <a:off x="8366760" y="198424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961120" y="1947672"/>
            <a:ext cx="2560320" cy="502920"/>
          </a:xfrm>
          <a:prstGeom prst="rect">
            <a:avLst/>
          </a:prstGeom>
          <a:noFill/>
          <a:ln/>
        </p:spPr>
        <p:txBody>
          <a:bodyPr wrap="square" rtlCol="0" anchor="ctr"/>
          <a:lstStyle/>
          <a:p>
            <a:pPr marL="0" indent="0">
              <a:buNone/>
            </a:pPr>
            <a:r>
              <a:rPr lang="en-US" sz="1400" b="1" dirty="0">
                <a:solidFill>
                  <a:srgbClr val="2B2B2B"/>
                </a:solidFill>
                <a:latin typeface="Cambria" pitchFamily="34" charset="0"/>
                <a:ea typeface="Cambria" pitchFamily="34" charset="-122"/>
                <a:cs typeface="Cambria" pitchFamily="34" charset="-120"/>
              </a:rPr>
              <a:t>Compatibility Matching</a:t>
            </a:r>
            <a:endParaRPr lang="en-US" sz="1400" dirty="0"/>
          </a:p>
        </p:txBody>
      </p:sp>
      <p:sp>
        <p:nvSpPr>
          <p:cNvPr id="18" name="Text 16"/>
          <p:cNvSpPr/>
          <p:nvPr/>
        </p:nvSpPr>
        <p:spPr>
          <a:xfrm>
            <a:off x="8366760" y="2560320"/>
            <a:ext cx="3108960" cy="100584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Suggest compatible donors, not just exact matches</a:t>
            </a:r>
            <a:endParaRPr lang="en-US" sz="1150" dirty="0"/>
          </a:p>
        </p:txBody>
      </p:sp>
      <p:sp>
        <p:nvSpPr>
          <p:cNvPr id="19" name="Shape 17"/>
          <p:cNvSpPr/>
          <p:nvPr/>
        </p:nvSpPr>
        <p:spPr>
          <a:xfrm>
            <a:off x="548640" y="3886200"/>
            <a:ext cx="3566160" cy="1874520"/>
          </a:xfrm>
          <a:prstGeom prst="roundRect">
            <a:avLst>
              <a:gd name="adj" fmla="val 4878"/>
            </a:avLst>
          </a:prstGeom>
          <a:solidFill>
            <a:srgbClr val="FFFFFF"/>
          </a:solidFill>
          <a:ln w="12700">
            <a:solidFill>
              <a:srgbClr val="E7DAD9"/>
            </a:solidFill>
            <a:prstDash val="solid"/>
          </a:ln>
        </p:spPr>
      </p:sp>
      <p:sp>
        <p:nvSpPr>
          <p:cNvPr id="20" name="Shape 18"/>
          <p:cNvSpPr/>
          <p:nvPr/>
        </p:nvSpPr>
        <p:spPr>
          <a:xfrm>
            <a:off x="777240" y="4087368"/>
            <a:ext cx="457200" cy="457200"/>
          </a:xfrm>
          <a:prstGeom prst="roundRect">
            <a:avLst>
              <a:gd name="adj" fmla="val 50000"/>
            </a:avLst>
          </a:prstGeom>
          <a:solidFill>
            <a:srgbClr val="2F3C7E"/>
          </a:solidFill>
          <a:ln/>
        </p:spPr>
      </p:sp>
      <p:sp>
        <p:nvSpPr>
          <p:cNvPr id="21" name="Text 19"/>
          <p:cNvSpPr/>
          <p:nvPr/>
        </p:nvSpPr>
        <p:spPr>
          <a:xfrm>
            <a:off x="777240" y="408736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71600" y="4050792"/>
            <a:ext cx="2560320" cy="502920"/>
          </a:xfrm>
          <a:prstGeom prst="rect">
            <a:avLst/>
          </a:prstGeom>
          <a:noFill/>
          <a:ln/>
        </p:spPr>
        <p:txBody>
          <a:bodyPr wrap="square" rtlCol="0" anchor="ctr"/>
          <a:lstStyle/>
          <a:p>
            <a:pPr marL="0" indent="0">
              <a:buNone/>
            </a:pPr>
            <a:r>
              <a:rPr lang="en-US" sz="1400" b="1" dirty="0">
                <a:solidFill>
                  <a:srgbClr val="2B2B2B"/>
                </a:solidFill>
                <a:latin typeface="Cambria" pitchFamily="34" charset="0"/>
                <a:ea typeface="Cambria" pitchFamily="34" charset="-122"/>
                <a:cs typeface="Cambria" pitchFamily="34" charset="-120"/>
              </a:rPr>
              <a:t>Hospital &amp; Bank Network</a:t>
            </a:r>
            <a:endParaRPr lang="en-US" sz="1400" dirty="0"/>
          </a:p>
        </p:txBody>
      </p:sp>
      <p:sp>
        <p:nvSpPr>
          <p:cNvPr id="23" name="Text 21"/>
          <p:cNvSpPr/>
          <p:nvPr/>
        </p:nvSpPr>
        <p:spPr>
          <a:xfrm>
            <a:off x="777240" y="4663440"/>
            <a:ext cx="3108960" cy="100584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Multi-location blood-bank management</a:t>
            </a:r>
            <a:endParaRPr lang="en-US" sz="1150" dirty="0"/>
          </a:p>
        </p:txBody>
      </p:sp>
      <p:sp>
        <p:nvSpPr>
          <p:cNvPr id="24" name="Shape 22"/>
          <p:cNvSpPr/>
          <p:nvPr/>
        </p:nvSpPr>
        <p:spPr>
          <a:xfrm>
            <a:off x="4343400" y="3886200"/>
            <a:ext cx="3566160" cy="1874520"/>
          </a:xfrm>
          <a:prstGeom prst="roundRect">
            <a:avLst>
              <a:gd name="adj" fmla="val 4878"/>
            </a:avLst>
          </a:prstGeom>
          <a:solidFill>
            <a:srgbClr val="FFFFFF"/>
          </a:solidFill>
          <a:ln w="12700">
            <a:solidFill>
              <a:srgbClr val="E7DAD9"/>
            </a:solidFill>
            <a:prstDash val="solid"/>
          </a:ln>
        </p:spPr>
      </p:sp>
      <p:sp>
        <p:nvSpPr>
          <p:cNvPr id="25" name="Shape 23"/>
          <p:cNvSpPr/>
          <p:nvPr/>
        </p:nvSpPr>
        <p:spPr>
          <a:xfrm>
            <a:off x="4572000" y="4087368"/>
            <a:ext cx="457200" cy="457200"/>
          </a:xfrm>
          <a:prstGeom prst="roundRect">
            <a:avLst>
              <a:gd name="adj" fmla="val 50000"/>
            </a:avLst>
          </a:prstGeom>
          <a:solidFill>
            <a:srgbClr val="2F3C7E"/>
          </a:solidFill>
          <a:ln/>
        </p:spPr>
      </p:sp>
      <p:sp>
        <p:nvSpPr>
          <p:cNvPr id="26" name="Text 24"/>
          <p:cNvSpPr/>
          <p:nvPr/>
        </p:nvSpPr>
        <p:spPr>
          <a:xfrm>
            <a:off x="4572000" y="408736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5166360" y="4050792"/>
            <a:ext cx="2560320" cy="502920"/>
          </a:xfrm>
          <a:prstGeom prst="rect">
            <a:avLst/>
          </a:prstGeom>
          <a:noFill/>
          <a:ln/>
        </p:spPr>
        <p:txBody>
          <a:bodyPr wrap="square" rtlCol="0" anchor="ctr"/>
          <a:lstStyle/>
          <a:p>
            <a:pPr marL="0" indent="0">
              <a:buNone/>
            </a:pPr>
            <a:r>
              <a:rPr lang="en-US" sz="1400" b="1" dirty="0">
                <a:solidFill>
                  <a:srgbClr val="2B2B2B"/>
                </a:solidFill>
                <a:latin typeface="Cambria" pitchFamily="34" charset="0"/>
                <a:ea typeface="Cambria" pitchFamily="34" charset="-122"/>
                <a:cs typeface="Cambria" pitchFamily="34" charset="-120"/>
              </a:rPr>
              <a:t>Eligibility Tracking</a:t>
            </a:r>
            <a:endParaRPr lang="en-US" sz="1400" dirty="0"/>
          </a:p>
        </p:txBody>
      </p:sp>
      <p:sp>
        <p:nvSpPr>
          <p:cNvPr id="28" name="Text 26"/>
          <p:cNvSpPr/>
          <p:nvPr/>
        </p:nvSpPr>
        <p:spPr>
          <a:xfrm>
            <a:off x="4572000" y="4663440"/>
            <a:ext cx="3108960" cy="100584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Auto-track donor waiting periods</a:t>
            </a:r>
            <a:endParaRPr lang="en-US" sz="1150" dirty="0"/>
          </a:p>
        </p:txBody>
      </p:sp>
      <p:sp>
        <p:nvSpPr>
          <p:cNvPr id="29" name="Shape 27"/>
          <p:cNvSpPr/>
          <p:nvPr/>
        </p:nvSpPr>
        <p:spPr>
          <a:xfrm>
            <a:off x="8138160" y="3886200"/>
            <a:ext cx="3566160" cy="1874520"/>
          </a:xfrm>
          <a:prstGeom prst="roundRect">
            <a:avLst>
              <a:gd name="adj" fmla="val 4878"/>
            </a:avLst>
          </a:prstGeom>
          <a:solidFill>
            <a:srgbClr val="FFFFFF"/>
          </a:solidFill>
          <a:ln w="12700">
            <a:solidFill>
              <a:srgbClr val="E7DAD9"/>
            </a:solidFill>
            <a:prstDash val="solid"/>
          </a:ln>
        </p:spPr>
      </p:sp>
      <p:sp>
        <p:nvSpPr>
          <p:cNvPr id="30" name="Shape 28"/>
          <p:cNvSpPr/>
          <p:nvPr/>
        </p:nvSpPr>
        <p:spPr>
          <a:xfrm>
            <a:off x="8366760" y="4087368"/>
            <a:ext cx="457200" cy="457200"/>
          </a:xfrm>
          <a:prstGeom prst="roundRect">
            <a:avLst>
              <a:gd name="adj" fmla="val 50000"/>
            </a:avLst>
          </a:prstGeom>
          <a:solidFill>
            <a:srgbClr val="2F3C7E"/>
          </a:solidFill>
          <a:ln/>
        </p:spPr>
      </p:sp>
      <p:sp>
        <p:nvSpPr>
          <p:cNvPr id="31" name="Text 29"/>
          <p:cNvSpPr/>
          <p:nvPr/>
        </p:nvSpPr>
        <p:spPr>
          <a:xfrm>
            <a:off x="8366760" y="408736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8961120" y="4050792"/>
            <a:ext cx="2560320" cy="502920"/>
          </a:xfrm>
          <a:prstGeom prst="rect">
            <a:avLst/>
          </a:prstGeom>
          <a:noFill/>
          <a:ln/>
        </p:spPr>
        <p:txBody>
          <a:bodyPr wrap="square" rtlCol="0" anchor="ctr"/>
          <a:lstStyle/>
          <a:p>
            <a:pPr marL="0" indent="0">
              <a:buNone/>
            </a:pPr>
            <a:r>
              <a:rPr lang="en-US" sz="1400" b="1" dirty="0">
                <a:solidFill>
                  <a:srgbClr val="2B2B2B"/>
                </a:solidFill>
                <a:latin typeface="Cambria" pitchFamily="34" charset="0"/>
                <a:ea typeface="Cambria" pitchFamily="34" charset="-122"/>
                <a:cs typeface="Cambria" pitchFamily="34" charset="-120"/>
              </a:rPr>
              <a:t>SMS / Email Alerts</a:t>
            </a:r>
            <a:endParaRPr lang="en-US" sz="1400" dirty="0"/>
          </a:p>
        </p:txBody>
      </p:sp>
      <p:sp>
        <p:nvSpPr>
          <p:cNvPr id="33" name="Text 31"/>
          <p:cNvSpPr/>
          <p:nvPr/>
        </p:nvSpPr>
        <p:spPr>
          <a:xfrm>
            <a:off x="8366760" y="4663440"/>
            <a:ext cx="3108960" cy="100584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Notify matching donors instantly</a:t>
            </a:r>
            <a:endParaRPr lang="en-US" sz="1150" dirty="0"/>
          </a:p>
        </p:txBody>
      </p:sp>
      <p:sp>
        <p:nvSpPr>
          <p:cNvPr id="34" name="Text 32"/>
          <p:cNvSpPr/>
          <p:nvPr/>
        </p:nvSpPr>
        <p:spPr>
          <a:xfrm>
            <a:off x="457200" y="6537960"/>
            <a:ext cx="7772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Smart Blood Donation Emergency Matching System</a:t>
            </a:r>
            <a:endParaRPr lang="en-US" sz="900" dirty="0"/>
          </a:p>
        </p:txBody>
      </p:sp>
      <p:sp>
        <p:nvSpPr>
          <p:cNvPr id="35" name="Text 3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5C000A"/>
        </a:solidFill>
        <a:effectLst/>
      </p:bgPr>
    </p:bg>
    <p:spTree>
      <p:nvGrpSpPr>
        <p:cNvPr id="1" name=""/>
        <p:cNvGrpSpPr/>
        <p:nvPr/>
      </p:nvGrpSpPr>
      <p:grpSpPr>
        <a:xfrm>
          <a:off x="0" y="0"/>
          <a:ext cx="0" cy="0"/>
          <a:chOff x="0" y="0"/>
          <a:chExt cx="0" cy="0"/>
        </a:xfrm>
      </p:grpSpPr>
      <p:sp>
        <p:nvSpPr>
          <p:cNvPr id="2" name="Shape 0"/>
          <p:cNvSpPr/>
          <p:nvPr/>
        </p:nvSpPr>
        <p:spPr>
          <a:xfrm rot="-720000">
            <a:off x="-1828800" y="5120640"/>
            <a:ext cx="7315200" cy="5486400"/>
          </a:xfrm>
          <a:prstGeom prst="roundRect">
            <a:avLst>
              <a:gd name="adj" fmla="val 8333"/>
            </a:avLst>
          </a:prstGeom>
          <a:solidFill>
            <a:srgbClr val="990011">
              <a:alpha val="55000"/>
            </a:srgbClr>
          </a:solidFill>
          <a:ln/>
        </p:spPr>
      </p:sp>
      <p:sp>
        <p:nvSpPr>
          <p:cNvPr id="3" name="Text 1"/>
          <p:cNvSpPr/>
          <p:nvPr/>
        </p:nvSpPr>
        <p:spPr>
          <a:xfrm>
            <a:off x="640080" y="640080"/>
            <a:ext cx="7315200" cy="365760"/>
          </a:xfrm>
          <a:prstGeom prst="rect">
            <a:avLst/>
          </a:prstGeom>
          <a:noFill/>
          <a:ln/>
        </p:spPr>
        <p:txBody>
          <a:bodyPr wrap="square" rtlCol="0" anchor="ctr"/>
          <a:lstStyle/>
          <a:p>
            <a:pPr marL="0" indent="0">
              <a:buNone/>
            </a:pPr>
            <a:r>
              <a:rPr lang="en-US" sz="1300" b="1" kern="0" spc="300" dirty="0">
                <a:solidFill>
                  <a:srgbClr val="E9B8BE"/>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621792" y="1051560"/>
            <a:ext cx="10515600" cy="1280160"/>
          </a:xfrm>
          <a:prstGeom prst="rect">
            <a:avLst/>
          </a:prstGeom>
          <a:noFill/>
          <a:ln/>
        </p:spPr>
        <p:txBody>
          <a:bodyPr wrap="square" rtlCol="0" anchor="ctr"/>
          <a:lstStyle/>
          <a:p>
            <a:pPr marL="0" indent="0">
              <a:lnSpc>
                <a:spcPct val="110000"/>
              </a:lnSpc>
              <a:buNone/>
            </a:pPr>
            <a:r>
              <a:rPr lang="en-US" sz="3000" b="1" dirty="0">
                <a:solidFill>
                  <a:srgbClr val="FFFFFF"/>
                </a:solidFill>
                <a:latin typeface="Cambria" pitchFamily="34" charset="0"/>
                <a:ea typeface="Cambria" pitchFamily="34" charset="-122"/>
                <a:cs typeface="Cambria" pitchFamily="34" charset="-120"/>
              </a:rPr>
              <a:t>Data Structures, Applied to Save Time — and Lives</a:t>
            </a:r>
            <a:endParaRPr lang="en-US" sz="3000" dirty="0"/>
          </a:p>
        </p:txBody>
      </p:sp>
      <p:sp>
        <p:nvSpPr>
          <p:cNvPr id="5" name="Text 3"/>
          <p:cNvSpPr/>
          <p:nvPr/>
        </p:nvSpPr>
        <p:spPr>
          <a:xfrm>
            <a:off x="658368" y="2514600"/>
            <a:ext cx="7589520" cy="2926080"/>
          </a:xfrm>
          <a:prstGeom prst="rect">
            <a:avLst/>
          </a:prstGeom>
          <a:noFill/>
          <a:ln/>
        </p:spPr>
        <p:txBody>
          <a:bodyPr wrap="square" rtlCol="0" anchor="ctr"/>
          <a:lstStyle/>
          <a:p>
            <a:pPr marL="342900" indent="-342900">
              <a:lnSpc>
                <a:spcPct val="140000"/>
              </a:lnSpc>
              <a:spcAft>
                <a:spcPts val="1200"/>
              </a:spcAft>
              <a:buSzPct val="100000"/>
              <a:buChar char="▪"/>
            </a:pPr>
            <a:r>
              <a:rPr lang="en-US" sz="1550" dirty="0">
                <a:solidFill>
                  <a:srgbClr val="F5DEE1"/>
                </a:solidFill>
                <a:latin typeface="Calibri" pitchFamily="34" charset="0"/>
                <a:ea typeface="Calibri" pitchFamily="34" charset="-122"/>
                <a:cs typeface="Calibri" pitchFamily="34" charset="-120"/>
              </a:rPr>
              <a:t>Delivers real functionality: registration, search, emergency matching, history &amp; reports</a:t>
            </a:r>
            <a:endParaRPr lang="en-US" sz="1550" dirty="0"/>
          </a:p>
          <a:p>
            <a:pPr marL="342900" indent="-342900">
              <a:lnSpc>
                <a:spcPct val="140000"/>
              </a:lnSpc>
              <a:spcAft>
                <a:spcPts val="1200"/>
              </a:spcAft>
              <a:buSzPct val="100000"/>
              <a:buChar char="▪"/>
            </a:pPr>
            <a:r>
              <a:rPr lang="en-US" sz="1550" dirty="0">
                <a:solidFill>
                  <a:srgbClr val="F5DEE1"/>
                </a:solidFill>
                <a:latin typeface="Calibri" pitchFamily="34" charset="0"/>
                <a:ea typeface="Calibri" pitchFamily="34" charset="-122"/>
                <a:cs typeface="Calibri" pitchFamily="34" charset="-120"/>
              </a:rPr>
              <a:t>Demonstrates vector, unordered_map, priority_queue and list solving real problems</a:t>
            </a:r>
            <a:endParaRPr lang="en-US" sz="1550" dirty="0"/>
          </a:p>
          <a:p>
            <a:pPr marL="342900" indent="-342900">
              <a:lnSpc>
                <a:spcPct val="140000"/>
              </a:lnSpc>
              <a:spcAft>
                <a:spcPts val="1200"/>
              </a:spcAft>
              <a:buSzPct val="100000"/>
              <a:buChar char="▪"/>
            </a:pPr>
            <a:r>
              <a:rPr lang="en-US" sz="1550" dirty="0">
                <a:solidFill>
                  <a:srgbClr val="F5DEE1"/>
                </a:solidFill>
                <a:latin typeface="Calibri" pitchFamily="34" charset="0"/>
                <a:ea typeface="Calibri" pitchFamily="34" charset="-122"/>
                <a:cs typeface="Calibri" pitchFamily="34" charset="-120"/>
              </a:rPr>
              <a:t>Strengthens OOP, file handling, and STL fundamentals through hands-on build</a:t>
            </a:r>
            <a:endParaRPr lang="en-US" sz="1550" dirty="0"/>
          </a:p>
          <a:p>
            <a:pPr marL="342900" indent="-342900">
              <a:lnSpc>
                <a:spcPct val="140000"/>
              </a:lnSpc>
              <a:spcAft>
                <a:spcPts val="1200"/>
              </a:spcAft>
              <a:buSzPct val="100000"/>
              <a:buChar char="▪"/>
            </a:pPr>
            <a:r>
              <a:rPr lang="en-US" sz="1550" dirty="0">
                <a:solidFill>
                  <a:srgbClr val="F5DEE1"/>
                </a:solidFill>
                <a:latin typeface="Calibri" pitchFamily="34" charset="0"/>
                <a:ea typeface="Calibri" pitchFamily="34" charset="-122"/>
                <a:cs typeface="Calibri" pitchFamily="34" charset="-120"/>
              </a:rPr>
              <a:t>Provides a solid, extensible foundation for a production-grade system</a:t>
            </a:r>
            <a:endParaRPr lang="en-US" sz="1550" dirty="0"/>
          </a:p>
        </p:txBody>
      </p:sp>
      <p:sp>
        <p:nvSpPr>
          <p:cNvPr id="6" name="Shape 4"/>
          <p:cNvSpPr/>
          <p:nvPr/>
        </p:nvSpPr>
        <p:spPr>
          <a:xfrm>
            <a:off x="658368" y="5760720"/>
            <a:ext cx="2926080" cy="0"/>
          </a:xfrm>
          <a:prstGeom prst="line">
            <a:avLst/>
          </a:prstGeom>
          <a:noFill/>
          <a:ln w="19050">
            <a:solidFill>
              <a:srgbClr val="FFFFFF"/>
            </a:solidFill>
            <a:prstDash val="solid"/>
          </a:ln>
        </p:spPr>
      </p:sp>
      <p:sp>
        <p:nvSpPr>
          <p:cNvPr id="7" name="Text 5"/>
          <p:cNvSpPr/>
          <p:nvPr/>
        </p:nvSpPr>
        <p:spPr>
          <a:xfrm>
            <a:off x="658368" y="5943600"/>
            <a:ext cx="731520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 — Questions Welcome</a:t>
            </a:r>
            <a:endParaRPr lang="en-US" sz="2000" dirty="0"/>
          </a:p>
        </p:txBody>
      </p:sp>
      <p:pic>
        <p:nvPicPr>
          <p:cNvPr id="8" name="Image 0" descr="/home/claude/ppt/src/word/media/image1.png"/>
          <p:cNvPicPr>
            <a:picLocks noChangeAspect="1"/>
          </p:cNvPicPr>
          <p:nvPr/>
        </p:nvPicPr>
        <p:blipFill>
          <a:blip r:embed="rId3"/>
          <a:stretch>
            <a:fillRect/>
          </a:stretch>
        </p:blipFill>
        <p:spPr>
          <a:xfrm>
            <a:off x="9281160" y="5806440"/>
            <a:ext cx="21031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1020</Words>
  <Application>Microsoft Office PowerPoint</Application>
  <PresentationFormat>Widescreen</PresentationFormat>
  <Paragraphs>193</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Abhin S</cp:lastModifiedBy>
  <cp:revision>1</cp:revision>
  <dcterms:created xsi:type="dcterms:W3CDTF">2026-09-11T20:13:19Z</dcterms:created>
  <dcterms:modified xsi:type="dcterms:W3CDTF">2026-09-11T20:48:04Z</dcterms:modified>
</cp:coreProperties>
</file>